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43891200" cy="32918400"/>
  <p:notesSz cx="32918400" cy="438912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43891200" cy="4114800"/>
          </a:xfrm>
          <a:prstGeom prst="rect">
            <a:avLst/>
          </a:prstGeom>
          <a:solidFill>
            <a:srgbClr val="0D1B2A"/>
          </a:solidFill>
          <a:ln/>
        </p:spPr>
      </p:sp>
      <p:sp>
        <p:nvSpPr>
          <p:cNvPr id="3" name="Text 1"/>
          <p:cNvSpPr/>
          <p:nvPr/>
        </p:nvSpPr>
        <p:spPr>
          <a:xfrm>
            <a:off x="1371600" y="365760"/>
            <a:ext cx="41148000" cy="2194560"/>
          </a:xfrm>
          <a:prstGeom prst="rect">
            <a:avLst/>
          </a:prstGeom>
          <a:noFill/>
          <a:ln/>
        </p:spPr>
        <p:txBody>
          <a:bodyPr wrap="square" lIns="0" tIns="0" rIns="0" bIns="0" rtlCol="0" anchor="ctr"/>
          <a:lstStyle/>
          <a:p>
            <a:pPr algn="ctr" indent="0" marL="0">
              <a:lnSpc>
                <a:spcPts val="6200"/>
              </a:lnSpc>
              <a:buNone/>
            </a:pPr>
            <a:r>
              <a:rPr lang="en-US" sz="5200" b="1" dirty="0">
                <a:solidFill>
                  <a:srgbClr val="FFFFFF"/>
                </a:solidFill>
                <a:latin typeface="Trebuchet MS" pitchFamily="34" charset="0"/>
                <a:ea typeface="Trebuchet MS" pitchFamily="34" charset="-122"/>
                <a:cs typeface="Trebuchet MS" pitchFamily="34" charset="-120"/>
              </a:rPr>
              <a:t>ReviewGuard: Combining Transformer Semantics and Reviewer</a:t>
            </a:r>
            <a:endParaRPr lang="en-US" sz="5200" dirty="0"/>
          </a:p>
          <a:p>
            <a:pPr algn="ctr" indent="0" marL="0">
              <a:lnSpc>
                <a:spcPts val="6200"/>
              </a:lnSpc>
              <a:buNone/>
            </a:pPr>
            <a:r>
              <a:rPr lang="en-US" sz="5200" b="1" dirty="0">
                <a:solidFill>
                  <a:srgbClr val="FFFFFF"/>
                </a:solidFill>
                <a:latin typeface="Trebuchet MS" pitchFamily="34" charset="0"/>
                <a:ea typeface="Trebuchet MS" pitchFamily="34" charset="-122"/>
                <a:cs typeface="Trebuchet MS" pitchFamily="34" charset="-120"/>
              </a:rPr>
              <a:t>Behavior for Fake Review Detection on Yelp</a:t>
            </a:r>
            <a:endParaRPr lang="en-US" sz="5200" dirty="0"/>
          </a:p>
        </p:txBody>
      </p:sp>
      <p:sp>
        <p:nvSpPr>
          <p:cNvPr id="4" name="Text 2"/>
          <p:cNvSpPr/>
          <p:nvPr/>
        </p:nvSpPr>
        <p:spPr>
          <a:xfrm>
            <a:off x="1371600" y="2560320"/>
            <a:ext cx="41148000" cy="640080"/>
          </a:xfrm>
          <a:prstGeom prst="rect">
            <a:avLst/>
          </a:prstGeom>
          <a:noFill/>
          <a:ln/>
        </p:spPr>
        <p:txBody>
          <a:bodyPr wrap="square" lIns="0" tIns="0" rIns="0" bIns="0" rtlCol="0" anchor="ctr"/>
          <a:lstStyle/>
          <a:p>
            <a:pPr algn="ctr" indent="0" marL="0">
              <a:buNone/>
            </a:pPr>
            <a:r>
              <a:rPr lang="en-US" sz="2800" dirty="0">
                <a:solidFill>
                  <a:srgbClr val="1B9AAA"/>
                </a:solidFill>
                <a:latin typeface="Calibri" pitchFamily="34" charset="0"/>
                <a:ea typeface="Calibri" pitchFamily="34" charset="-122"/>
                <a:cs typeface="Calibri" pitchFamily="34" charset="-120"/>
              </a:rPr>
              <a:t>Rohan Mukka  &amp;  Rithwik Reddy Donthi Reddy</a:t>
            </a:r>
            <a:endParaRPr lang="en-US" sz="2800" dirty="0"/>
          </a:p>
        </p:txBody>
      </p:sp>
      <p:sp>
        <p:nvSpPr>
          <p:cNvPr id="5" name="Text 3"/>
          <p:cNvSpPr/>
          <p:nvPr/>
        </p:nvSpPr>
        <p:spPr>
          <a:xfrm>
            <a:off x="1371600" y="3108960"/>
            <a:ext cx="41148000" cy="548640"/>
          </a:xfrm>
          <a:prstGeom prst="rect">
            <a:avLst/>
          </a:prstGeom>
          <a:noFill/>
          <a:ln/>
        </p:spPr>
        <p:txBody>
          <a:bodyPr wrap="square" lIns="0" tIns="0" rIns="0" bIns="0" rtlCol="0" anchor="ctr"/>
          <a:lstStyle/>
          <a:p>
            <a:pPr algn="ctr" indent="0" marL="0">
              <a:buNone/>
            </a:pPr>
            <a:r>
              <a:rPr lang="en-US" sz="2200" dirty="0">
                <a:solidFill>
                  <a:srgbClr val="A0B4C8"/>
                </a:solidFill>
                <a:latin typeface="Calibri" pitchFamily="34" charset="0"/>
                <a:ea typeface="Calibri" pitchFamily="34" charset="-122"/>
                <a:cs typeface="Calibri" pitchFamily="34" charset="-120"/>
              </a:rPr>
              <a:t>CS 5903 — Perspectives on Computing  |  University of Oklahoma  |  Spring 2026</a:t>
            </a:r>
            <a:endParaRPr lang="en-US" sz="2200" dirty="0"/>
          </a:p>
        </p:txBody>
      </p:sp>
      <p:sp>
        <p:nvSpPr>
          <p:cNvPr id="6" name="Shape 4"/>
          <p:cNvSpPr/>
          <p:nvPr/>
        </p:nvSpPr>
        <p:spPr>
          <a:xfrm>
            <a:off x="731520" y="4754880"/>
            <a:ext cx="13167360" cy="73152"/>
          </a:xfrm>
          <a:prstGeom prst="rect">
            <a:avLst/>
          </a:prstGeom>
          <a:solidFill>
            <a:srgbClr val="1B9AAA"/>
          </a:solidFill>
          <a:ln/>
        </p:spPr>
      </p:sp>
      <p:sp>
        <p:nvSpPr>
          <p:cNvPr id="7" name="Text 5"/>
          <p:cNvSpPr/>
          <p:nvPr/>
        </p:nvSpPr>
        <p:spPr>
          <a:xfrm>
            <a:off x="731520" y="4892040"/>
            <a:ext cx="13167360" cy="685800"/>
          </a:xfrm>
          <a:prstGeom prst="rect">
            <a:avLst/>
          </a:prstGeom>
          <a:noFill/>
          <a:ln/>
        </p:spPr>
        <p:txBody>
          <a:bodyPr wrap="square" lIns="0" tIns="0" rIns="0" bIns="0" rtlCol="0" anchor="ctr"/>
          <a:lstStyle/>
          <a:p>
            <a:pPr indent="0" marL="0">
              <a:buNone/>
            </a:pPr>
            <a:r>
              <a:rPr lang="en-US" sz="2800" b="1" dirty="0">
                <a:solidFill>
                  <a:srgbClr val="0D1B2A"/>
                </a:solidFill>
                <a:latin typeface="Trebuchet MS" pitchFamily="34" charset="0"/>
                <a:ea typeface="Trebuchet MS" pitchFamily="34" charset="-122"/>
                <a:cs typeface="Trebuchet MS" pitchFamily="34" charset="-120"/>
              </a:rPr>
              <a:t>Motivation</a:t>
            </a:r>
            <a:endParaRPr lang="en-US" sz="2800" dirty="0"/>
          </a:p>
        </p:txBody>
      </p:sp>
      <p:sp>
        <p:nvSpPr>
          <p:cNvPr id="8" name="Text 6"/>
          <p:cNvSpPr/>
          <p:nvPr/>
        </p:nvSpPr>
        <p:spPr>
          <a:xfrm>
            <a:off x="731520" y="5669280"/>
            <a:ext cx="13167360" cy="2926080"/>
          </a:xfrm>
          <a:prstGeom prst="rect">
            <a:avLst/>
          </a:prstGeom>
          <a:noFill/>
          <a:ln/>
        </p:spPr>
        <p:txBody>
          <a:bodyPr wrap="square" lIns="0" tIns="0" rIns="0" bIns="0" rtlCol="0" anchor="t"/>
          <a:lstStyle/>
          <a:p>
            <a:pPr algn="l" indent="0" marL="0">
              <a:lnSpc>
                <a:spcPts val="2700"/>
              </a:lnSpc>
              <a:buNone/>
            </a:pPr>
            <a:r>
              <a:rPr lang="en-US" sz="1800" dirty="0">
                <a:solidFill>
                  <a:srgbClr val="1A1A2E"/>
                </a:solidFill>
                <a:latin typeface="Calibri" pitchFamily="34" charset="0"/>
                <a:ea typeface="Calibri" pitchFamily="34" charset="-122"/>
                <a:cs typeface="Calibri" pitchFamily="34" charset="-120"/>
              </a:rPr>
              <a:t>Online reviews heavily influence consumer decisions, yet platforms like Yelp face persistent manipulation through fake reviews. Existing detection approaches typically focus on either textual content or reviewer behavior in isolation, leaving critical cross-modal signals unexploited.</a:t>
            </a:r>
            <a:endParaRPr lang="en-US" sz="1800" dirty="0"/>
          </a:p>
          <a:p>
            <a:pPr algn="l" indent="0" marL="0">
              <a:lnSpc>
                <a:spcPts val="2700"/>
              </a:lnSpc>
              <a:buNone/>
            </a:pPr>
            <a:endParaRPr lang="en-US" sz="1800" dirty="0"/>
          </a:p>
          <a:p>
            <a:pPr algn="l" indent="0" marL="0">
              <a:lnSpc>
                <a:spcPts val="2700"/>
              </a:lnSpc>
              <a:buNone/>
            </a:pPr>
            <a:r>
              <a:rPr lang="en-US" sz="1800" dirty="0">
                <a:solidFill>
                  <a:srgbClr val="1A1A2E"/>
                </a:solidFill>
                <a:latin typeface="Calibri" pitchFamily="34" charset="0"/>
                <a:ea typeface="Calibri" pitchFamily="34" charset="-122"/>
                <a:cs typeface="Calibri" pitchFamily="34" charset="-120"/>
              </a:rPr>
              <a:t>ReviewGuard addresses this gap by fusing transformer-based semantic features with behavioral metadata through a late-fusion MLP architecture, achieving robust detection on the real-world YelpCHI dataset (45,954 reviews, 14.5% fake).</a:t>
            </a:r>
            <a:endParaRPr lang="en-US" sz="1800" dirty="0"/>
          </a:p>
        </p:txBody>
      </p:sp>
      <p:sp>
        <p:nvSpPr>
          <p:cNvPr id="9" name="Shape 7"/>
          <p:cNvSpPr/>
          <p:nvPr/>
        </p:nvSpPr>
        <p:spPr>
          <a:xfrm>
            <a:off x="731520" y="8595360"/>
            <a:ext cx="13167360" cy="73152"/>
          </a:xfrm>
          <a:prstGeom prst="rect">
            <a:avLst/>
          </a:prstGeom>
          <a:solidFill>
            <a:srgbClr val="1B9AAA"/>
          </a:solidFill>
          <a:ln/>
        </p:spPr>
      </p:sp>
      <p:sp>
        <p:nvSpPr>
          <p:cNvPr id="10" name="Text 8"/>
          <p:cNvSpPr/>
          <p:nvPr/>
        </p:nvSpPr>
        <p:spPr>
          <a:xfrm>
            <a:off x="731520" y="8732520"/>
            <a:ext cx="13167360" cy="685800"/>
          </a:xfrm>
          <a:prstGeom prst="rect">
            <a:avLst/>
          </a:prstGeom>
          <a:noFill/>
          <a:ln/>
        </p:spPr>
        <p:txBody>
          <a:bodyPr wrap="square" lIns="0" tIns="0" rIns="0" bIns="0" rtlCol="0" anchor="ctr"/>
          <a:lstStyle/>
          <a:p>
            <a:pPr indent="0" marL="0">
              <a:buNone/>
            </a:pPr>
            <a:r>
              <a:rPr lang="en-US" sz="2800" b="1" dirty="0">
                <a:solidFill>
                  <a:srgbClr val="0D1B2A"/>
                </a:solidFill>
                <a:latin typeface="Trebuchet MS" pitchFamily="34" charset="0"/>
                <a:ea typeface="Trebuchet MS" pitchFamily="34" charset="-122"/>
                <a:cs typeface="Trebuchet MS" pitchFamily="34" charset="-120"/>
              </a:rPr>
              <a:t>Problem Statement</a:t>
            </a:r>
            <a:endParaRPr lang="en-US" sz="2800" dirty="0"/>
          </a:p>
        </p:txBody>
      </p:sp>
      <p:sp>
        <p:nvSpPr>
          <p:cNvPr id="11" name="Text 9"/>
          <p:cNvSpPr/>
          <p:nvPr/>
        </p:nvSpPr>
        <p:spPr>
          <a:xfrm>
            <a:off x="731520" y="9509760"/>
            <a:ext cx="13167360" cy="2286000"/>
          </a:xfrm>
          <a:prstGeom prst="rect">
            <a:avLst/>
          </a:prstGeom>
          <a:noFill/>
          <a:ln/>
        </p:spPr>
        <p:txBody>
          <a:bodyPr wrap="square" lIns="0" tIns="0" rIns="0" bIns="0" rtlCol="0" anchor="t"/>
          <a:lstStyle/>
          <a:p>
            <a:pPr algn="l" indent="0" marL="0">
              <a:lnSpc>
                <a:spcPts val="2700"/>
              </a:lnSpc>
              <a:buNone/>
            </a:pPr>
            <a:r>
              <a:rPr lang="en-US" sz="1800" dirty="0">
                <a:solidFill>
                  <a:srgbClr val="1A1A2E"/>
                </a:solidFill>
                <a:latin typeface="Calibri" pitchFamily="34" charset="0"/>
                <a:ea typeface="Calibri" pitchFamily="34" charset="-122"/>
                <a:cs typeface="Calibri" pitchFamily="34" charset="-120"/>
              </a:rPr>
              <a:t>•  Fake reviews erode consumer trust and distort market signals</a:t>
            </a:r>
            <a:endParaRPr lang="en-US" sz="1800" dirty="0"/>
          </a:p>
          <a:p>
            <a:pPr algn="l" indent="0" marL="0">
              <a:lnSpc>
                <a:spcPts val="2700"/>
              </a:lnSpc>
              <a:buNone/>
            </a:pPr>
            <a:r>
              <a:rPr lang="en-US" sz="1800" dirty="0">
                <a:solidFill>
                  <a:srgbClr val="1A1A2E"/>
                </a:solidFill>
                <a:latin typeface="Calibri" pitchFamily="34" charset="0"/>
                <a:ea typeface="Calibri" pitchFamily="34" charset="-122"/>
                <a:cs typeface="Calibri" pitchFamily="34" charset="-120"/>
              </a:rPr>
              <a:t>•  Text-only methods miss behavioral manipulation patterns</a:t>
            </a:r>
            <a:endParaRPr lang="en-US" sz="1800" dirty="0"/>
          </a:p>
          <a:p>
            <a:pPr algn="l" indent="0" marL="0">
              <a:lnSpc>
                <a:spcPts val="2700"/>
              </a:lnSpc>
              <a:buNone/>
            </a:pPr>
            <a:r>
              <a:rPr lang="en-US" sz="1800" dirty="0">
                <a:solidFill>
                  <a:srgbClr val="1A1A2E"/>
                </a:solidFill>
                <a:latin typeface="Calibri" pitchFamily="34" charset="0"/>
                <a:ea typeface="Calibri" pitchFamily="34" charset="-122"/>
                <a:cs typeface="Calibri" pitchFamily="34" charset="-120"/>
              </a:rPr>
              <a:t>•  Behavior-only methods miss semantic deception cues</a:t>
            </a:r>
            <a:endParaRPr lang="en-US" sz="1800" dirty="0"/>
          </a:p>
          <a:p>
            <a:pPr algn="l" indent="0" marL="0">
              <a:lnSpc>
                <a:spcPts val="2700"/>
              </a:lnSpc>
              <a:buNone/>
            </a:pPr>
            <a:r>
              <a:rPr lang="en-US" sz="1800" dirty="0">
                <a:solidFill>
                  <a:srgbClr val="1A1A2E"/>
                </a:solidFill>
                <a:latin typeface="Calibri" pitchFamily="34" charset="0"/>
                <a:ea typeface="Calibri" pitchFamily="34" charset="-122"/>
                <a:cs typeface="Calibri" pitchFamily="34" charset="-120"/>
              </a:rPr>
              <a:t>•  Class imbalance (85.5% genuine vs 14.5% fake) challenges standard classifiers</a:t>
            </a:r>
            <a:endParaRPr lang="en-US" sz="1800" dirty="0"/>
          </a:p>
          <a:p>
            <a:pPr algn="l" indent="0" marL="0">
              <a:lnSpc>
                <a:spcPts val="2700"/>
              </a:lnSpc>
              <a:buNone/>
            </a:pPr>
            <a:r>
              <a:rPr lang="en-US" sz="1800" dirty="0">
                <a:solidFill>
                  <a:srgbClr val="1A1A2E"/>
                </a:solidFill>
                <a:latin typeface="Calibri" pitchFamily="34" charset="0"/>
                <a:ea typeface="Calibri" pitchFamily="34" charset="-122"/>
                <a:cs typeface="Calibri" pitchFamily="34" charset="-120"/>
              </a:rPr>
              <a:t>•  Need: unified multi-modal framework combining both signals</a:t>
            </a:r>
            <a:endParaRPr lang="en-US" sz="1800" dirty="0"/>
          </a:p>
        </p:txBody>
      </p:sp>
      <p:sp>
        <p:nvSpPr>
          <p:cNvPr id="12" name="Shape 10"/>
          <p:cNvSpPr/>
          <p:nvPr/>
        </p:nvSpPr>
        <p:spPr>
          <a:xfrm>
            <a:off x="731520" y="11887200"/>
            <a:ext cx="13167360" cy="73152"/>
          </a:xfrm>
          <a:prstGeom prst="rect">
            <a:avLst/>
          </a:prstGeom>
          <a:solidFill>
            <a:srgbClr val="1B9AAA"/>
          </a:solidFill>
          <a:ln/>
        </p:spPr>
      </p:sp>
      <p:sp>
        <p:nvSpPr>
          <p:cNvPr id="13" name="Text 11"/>
          <p:cNvSpPr/>
          <p:nvPr/>
        </p:nvSpPr>
        <p:spPr>
          <a:xfrm>
            <a:off x="731520" y="12024360"/>
            <a:ext cx="13167360" cy="685800"/>
          </a:xfrm>
          <a:prstGeom prst="rect">
            <a:avLst/>
          </a:prstGeom>
          <a:noFill/>
          <a:ln/>
        </p:spPr>
        <p:txBody>
          <a:bodyPr wrap="square" lIns="0" tIns="0" rIns="0" bIns="0" rtlCol="0" anchor="ctr"/>
          <a:lstStyle/>
          <a:p>
            <a:pPr indent="0" marL="0">
              <a:buNone/>
            </a:pPr>
            <a:r>
              <a:rPr lang="en-US" sz="2800" b="1" dirty="0">
                <a:solidFill>
                  <a:srgbClr val="0D1B2A"/>
                </a:solidFill>
                <a:latin typeface="Trebuchet MS" pitchFamily="34" charset="0"/>
                <a:ea typeface="Trebuchet MS" pitchFamily="34" charset="-122"/>
                <a:cs typeface="Trebuchet MS" pitchFamily="34" charset="-120"/>
              </a:rPr>
              <a:t>Methodology</a:t>
            </a:r>
            <a:endParaRPr lang="en-US" sz="2800" dirty="0"/>
          </a:p>
        </p:txBody>
      </p:sp>
      <p:sp>
        <p:nvSpPr>
          <p:cNvPr id="14" name="Shape 12"/>
          <p:cNvSpPr/>
          <p:nvPr/>
        </p:nvSpPr>
        <p:spPr>
          <a:xfrm>
            <a:off x="731520" y="12801600"/>
            <a:ext cx="13167360" cy="5669280"/>
          </a:xfrm>
          <a:prstGeom prst="roundRect">
            <a:avLst>
              <a:gd name="adj" fmla="val 2419"/>
            </a:avLst>
          </a:prstGeom>
          <a:solidFill>
            <a:srgbClr val="FFFFFF"/>
          </a:solidFill>
          <a:ln w="12700">
            <a:solidFill>
              <a:srgbClr val="D0D5DD"/>
            </a:solidFill>
            <a:prstDash val="solid"/>
          </a:ln>
        </p:spPr>
      </p:sp>
      <p:sp>
        <p:nvSpPr>
          <p:cNvPr id="15" name="Text 13"/>
          <p:cNvSpPr/>
          <p:nvPr/>
        </p:nvSpPr>
        <p:spPr>
          <a:xfrm>
            <a:off x="1188720" y="13075920"/>
            <a:ext cx="12252960" cy="548640"/>
          </a:xfrm>
          <a:prstGeom prst="rect">
            <a:avLst/>
          </a:prstGeom>
          <a:noFill/>
          <a:ln/>
        </p:spPr>
        <p:txBody>
          <a:bodyPr wrap="square" lIns="0" tIns="0" rIns="0" bIns="0" rtlCol="0" anchor="t"/>
          <a:lstStyle/>
          <a:p>
            <a:pPr algn="l" indent="0" marL="0">
              <a:lnSpc>
                <a:spcPts val="2700"/>
              </a:lnSpc>
              <a:buNone/>
            </a:pPr>
            <a:r>
              <a:rPr lang="en-US" sz="2200" b="1" dirty="0">
                <a:solidFill>
                  <a:srgbClr val="0D1B2A"/>
                </a:solidFill>
                <a:latin typeface="Calibri" pitchFamily="34" charset="0"/>
                <a:ea typeface="Calibri" pitchFamily="34" charset="-122"/>
                <a:cs typeface="Calibri" pitchFamily="34" charset="-120"/>
              </a:rPr>
              <a:t>ReviewGuard Architecture</a:t>
            </a:r>
            <a:endParaRPr lang="en-US" sz="2200" dirty="0"/>
          </a:p>
        </p:txBody>
      </p:sp>
      <p:sp>
        <p:nvSpPr>
          <p:cNvPr id="16" name="Text 14"/>
          <p:cNvSpPr/>
          <p:nvPr/>
        </p:nvSpPr>
        <p:spPr>
          <a:xfrm>
            <a:off x="1188720" y="13716000"/>
            <a:ext cx="12252960" cy="4572000"/>
          </a:xfrm>
          <a:prstGeom prst="rect">
            <a:avLst/>
          </a:prstGeom>
          <a:noFill/>
          <a:ln/>
        </p:spPr>
        <p:txBody>
          <a:bodyPr wrap="square" lIns="0" tIns="0" rIns="0" bIns="0" rtlCol="0" anchor="t"/>
          <a:lstStyle/>
          <a:p>
            <a:pPr algn="l" indent="0" marL="0">
              <a:lnSpc>
                <a:spcPts val="2300"/>
              </a:lnSpc>
              <a:buNone/>
            </a:pPr>
            <a:r>
              <a:rPr lang="en-US" sz="1600" dirty="0">
                <a:solidFill>
                  <a:srgbClr val="1A1A2E"/>
                </a:solidFill>
                <a:latin typeface="Calibri" pitchFamily="34" charset="0"/>
                <a:ea typeface="Calibri" pitchFamily="34" charset="-122"/>
                <a:cs typeface="Calibri" pitchFamily="34" charset="-120"/>
              </a:rPr>
              <a:t>Text Branch (Semantic Features)</a:t>
            </a:r>
            <a:endParaRPr lang="en-US" sz="1600" dirty="0"/>
          </a:p>
          <a:p>
            <a:pPr algn="l" indent="0" marL="0">
              <a:lnSpc>
                <a:spcPts val="2300"/>
              </a:lnSpc>
              <a:buNone/>
            </a:pPr>
            <a:r>
              <a:rPr lang="en-US" sz="1600" dirty="0">
                <a:solidFill>
                  <a:srgbClr val="1A1A2E"/>
                </a:solidFill>
                <a:latin typeface="Calibri" pitchFamily="34" charset="0"/>
                <a:ea typeface="Calibri" pitchFamily="34" charset="-122"/>
                <a:cs typeface="Calibri" pitchFamily="34" charset="-120"/>
              </a:rPr>
              <a:t xml:space="preserve">   Input review text → BERT/DistilBERT tokenizer →</a:t>
            </a:r>
            <a:endParaRPr lang="en-US" sz="1600" dirty="0"/>
          </a:p>
          <a:p>
            <a:pPr algn="l" indent="0" marL="0">
              <a:lnSpc>
                <a:spcPts val="2300"/>
              </a:lnSpc>
              <a:buNone/>
            </a:pPr>
            <a:r>
              <a:rPr lang="en-US" sz="1600" dirty="0">
                <a:solidFill>
                  <a:srgbClr val="1A1A2E"/>
                </a:solidFill>
                <a:latin typeface="Calibri" pitchFamily="34" charset="0"/>
                <a:ea typeface="Calibri" pitchFamily="34" charset="-122"/>
                <a:cs typeface="Calibri" pitchFamily="34" charset="-120"/>
              </a:rPr>
              <a:t xml:space="preserve">   Transformer encoder → [CLS] pooling →</a:t>
            </a:r>
            <a:endParaRPr lang="en-US" sz="1600" dirty="0"/>
          </a:p>
          <a:p>
            <a:pPr algn="l" indent="0" marL="0">
              <a:lnSpc>
                <a:spcPts val="2300"/>
              </a:lnSpc>
              <a:buNone/>
            </a:pPr>
            <a:r>
              <a:rPr lang="en-US" sz="1600" dirty="0">
                <a:solidFill>
                  <a:srgbClr val="1A1A2E"/>
                </a:solidFill>
                <a:latin typeface="Calibri" pitchFamily="34" charset="0"/>
                <a:ea typeface="Calibri" pitchFamily="34" charset="-122"/>
                <a:cs typeface="Calibri" pitchFamily="34" charset="-120"/>
              </a:rPr>
              <a:t xml:space="preserve">   Dense 256 → ReLU → Dropout(0.3)</a:t>
            </a:r>
            <a:endParaRPr lang="en-US" sz="1600" dirty="0"/>
          </a:p>
          <a:p>
            <a:pPr algn="l" indent="0" marL="0">
              <a:lnSpc>
                <a:spcPts val="2300"/>
              </a:lnSpc>
              <a:buNone/>
            </a:pPr>
            <a:endParaRPr lang="en-US" sz="1600" dirty="0"/>
          </a:p>
          <a:p>
            <a:pPr algn="l" indent="0" marL="0">
              <a:lnSpc>
                <a:spcPts val="2300"/>
              </a:lnSpc>
              <a:buNone/>
            </a:pPr>
            <a:r>
              <a:rPr lang="en-US" sz="1600" dirty="0">
                <a:solidFill>
                  <a:srgbClr val="1A1A2E"/>
                </a:solidFill>
                <a:latin typeface="Calibri" pitchFamily="34" charset="0"/>
                <a:ea typeface="Calibri" pitchFamily="34" charset="-122"/>
                <a:cs typeface="Calibri" pitchFamily="34" charset="-120"/>
              </a:rPr>
              <a:t>Behavior Branch (Metadata Features)</a:t>
            </a:r>
            <a:endParaRPr lang="en-US" sz="1600" dirty="0"/>
          </a:p>
          <a:p>
            <a:pPr algn="l" indent="0" marL="0">
              <a:lnSpc>
                <a:spcPts val="2300"/>
              </a:lnSpc>
              <a:buNone/>
            </a:pPr>
            <a:r>
              <a:rPr lang="en-US" sz="1600" dirty="0">
                <a:solidFill>
                  <a:srgbClr val="1A1A2E"/>
                </a:solidFill>
                <a:latin typeface="Calibri" pitchFamily="34" charset="0"/>
                <a:ea typeface="Calibri" pitchFamily="34" charset="-122"/>
                <a:cs typeface="Calibri" pitchFamily="34" charset="-120"/>
              </a:rPr>
              <a:t xml:space="preserve">   32 behavioral features (rating deviation, review frequency,</a:t>
            </a:r>
            <a:endParaRPr lang="en-US" sz="1600" dirty="0"/>
          </a:p>
          <a:p>
            <a:pPr algn="l" indent="0" marL="0">
              <a:lnSpc>
                <a:spcPts val="2300"/>
              </a:lnSpc>
              <a:buNone/>
            </a:pPr>
            <a:r>
              <a:rPr lang="en-US" sz="1600" dirty="0">
                <a:solidFill>
                  <a:srgbClr val="1A1A2E"/>
                </a:solidFill>
                <a:latin typeface="Calibri" pitchFamily="34" charset="0"/>
                <a:ea typeface="Calibri" pitchFamily="34" charset="-122"/>
                <a:cs typeface="Calibri" pitchFamily="34" charset="-120"/>
              </a:rPr>
              <a:t xml:space="preserve">   burstiness, content similarity, activity ratios) →</a:t>
            </a:r>
            <a:endParaRPr lang="en-US" sz="1600" dirty="0"/>
          </a:p>
          <a:p>
            <a:pPr algn="l" indent="0" marL="0">
              <a:lnSpc>
                <a:spcPts val="2300"/>
              </a:lnSpc>
              <a:buNone/>
            </a:pPr>
            <a:r>
              <a:rPr lang="en-US" sz="1600" dirty="0">
                <a:solidFill>
                  <a:srgbClr val="1A1A2E"/>
                </a:solidFill>
                <a:latin typeface="Calibri" pitchFamily="34" charset="0"/>
                <a:ea typeface="Calibri" pitchFamily="34" charset="-122"/>
                <a:cs typeface="Calibri" pitchFamily="34" charset="-120"/>
              </a:rPr>
              <a:t xml:space="preserve">   Dense 128 → ReLU → BatchNorm → Dropout(0.3)</a:t>
            </a:r>
            <a:endParaRPr lang="en-US" sz="1600" dirty="0"/>
          </a:p>
          <a:p>
            <a:pPr algn="l" indent="0" marL="0">
              <a:lnSpc>
                <a:spcPts val="2300"/>
              </a:lnSpc>
              <a:buNone/>
            </a:pPr>
            <a:endParaRPr lang="en-US" sz="1600" dirty="0"/>
          </a:p>
          <a:p>
            <a:pPr algn="l" indent="0" marL="0">
              <a:lnSpc>
                <a:spcPts val="2300"/>
              </a:lnSpc>
              <a:buNone/>
            </a:pPr>
            <a:r>
              <a:rPr lang="en-US" sz="1600" dirty="0">
                <a:solidFill>
                  <a:srgbClr val="1A1A2E"/>
                </a:solidFill>
                <a:latin typeface="Calibri" pitchFamily="34" charset="0"/>
                <a:ea typeface="Calibri" pitchFamily="34" charset="-122"/>
                <a:cs typeface="Calibri" pitchFamily="34" charset="-120"/>
              </a:rPr>
              <a:t>Late Fusion</a:t>
            </a:r>
            <a:endParaRPr lang="en-US" sz="1600" dirty="0"/>
          </a:p>
          <a:p>
            <a:pPr algn="l" indent="0" marL="0">
              <a:lnSpc>
                <a:spcPts val="2300"/>
              </a:lnSpc>
              <a:buNone/>
            </a:pPr>
            <a:r>
              <a:rPr lang="en-US" sz="1600" dirty="0">
                <a:solidFill>
                  <a:srgbClr val="1A1A2E"/>
                </a:solidFill>
                <a:latin typeface="Calibri" pitchFamily="34" charset="0"/>
                <a:ea typeface="Calibri" pitchFamily="34" charset="-122"/>
                <a:cs typeface="Calibri" pitchFamily="34" charset="-120"/>
              </a:rPr>
              <a:t xml:space="preserve">   Concatenate [text_embed ; behavior_embed] →</a:t>
            </a:r>
            <a:endParaRPr lang="en-US" sz="1600" dirty="0"/>
          </a:p>
          <a:p>
            <a:pPr algn="l" indent="0" marL="0">
              <a:lnSpc>
                <a:spcPts val="2300"/>
              </a:lnSpc>
              <a:buNone/>
            </a:pPr>
            <a:r>
              <a:rPr lang="en-US" sz="1600" dirty="0">
                <a:solidFill>
                  <a:srgbClr val="1A1A2E"/>
                </a:solidFill>
                <a:latin typeface="Calibri" pitchFamily="34" charset="0"/>
                <a:ea typeface="Calibri" pitchFamily="34" charset="-122"/>
                <a:cs typeface="Calibri" pitchFamily="34" charset="-120"/>
              </a:rPr>
              <a:t xml:space="preserve">   Dense 128 → ReLU → Dropout(0.3) →</a:t>
            </a:r>
            <a:endParaRPr lang="en-US" sz="1600" dirty="0"/>
          </a:p>
          <a:p>
            <a:pPr algn="l" indent="0" marL="0">
              <a:lnSpc>
                <a:spcPts val="2300"/>
              </a:lnSpc>
              <a:buNone/>
            </a:pPr>
            <a:r>
              <a:rPr lang="en-US" sz="1600" dirty="0">
                <a:solidFill>
                  <a:srgbClr val="1A1A2E"/>
                </a:solidFill>
                <a:latin typeface="Calibri" pitchFamily="34" charset="0"/>
                <a:ea typeface="Calibri" pitchFamily="34" charset="-122"/>
                <a:cs typeface="Calibri" pitchFamily="34" charset="-120"/>
              </a:rPr>
              <a:t xml:space="preserve">   Dense 1 → Sigmoid → P(fake)</a:t>
            </a:r>
            <a:endParaRPr lang="en-US" sz="1600" dirty="0"/>
          </a:p>
        </p:txBody>
      </p:sp>
      <p:sp>
        <p:nvSpPr>
          <p:cNvPr id="17" name="Shape 15"/>
          <p:cNvSpPr/>
          <p:nvPr/>
        </p:nvSpPr>
        <p:spPr>
          <a:xfrm>
            <a:off x="731520" y="18745200"/>
            <a:ext cx="13167360" cy="73152"/>
          </a:xfrm>
          <a:prstGeom prst="rect">
            <a:avLst/>
          </a:prstGeom>
          <a:solidFill>
            <a:srgbClr val="1B9AAA"/>
          </a:solidFill>
          <a:ln/>
        </p:spPr>
      </p:sp>
      <p:sp>
        <p:nvSpPr>
          <p:cNvPr id="18" name="Text 16"/>
          <p:cNvSpPr/>
          <p:nvPr/>
        </p:nvSpPr>
        <p:spPr>
          <a:xfrm>
            <a:off x="731520" y="18882360"/>
            <a:ext cx="13167360" cy="685800"/>
          </a:xfrm>
          <a:prstGeom prst="rect">
            <a:avLst/>
          </a:prstGeom>
          <a:noFill/>
          <a:ln/>
        </p:spPr>
        <p:txBody>
          <a:bodyPr wrap="square" lIns="0" tIns="0" rIns="0" bIns="0" rtlCol="0" anchor="ctr"/>
          <a:lstStyle/>
          <a:p>
            <a:pPr indent="0" marL="0">
              <a:buNone/>
            </a:pPr>
            <a:r>
              <a:rPr lang="en-US" sz="2800" b="1" dirty="0">
                <a:solidFill>
                  <a:srgbClr val="0D1B2A"/>
                </a:solidFill>
                <a:latin typeface="Trebuchet MS" pitchFamily="34" charset="0"/>
                <a:ea typeface="Trebuchet MS" pitchFamily="34" charset="-122"/>
                <a:cs typeface="Trebuchet MS" pitchFamily="34" charset="-120"/>
              </a:rPr>
              <a:t>Dataset</a:t>
            </a:r>
            <a:endParaRPr lang="en-US" sz="2800" dirty="0"/>
          </a:p>
        </p:txBody>
      </p:sp>
      <p:sp>
        <p:nvSpPr>
          <p:cNvPr id="19" name="Text 17"/>
          <p:cNvSpPr/>
          <p:nvPr/>
        </p:nvSpPr>
        <p:spPr>
          <a:xfrm>
            <a:off x="731520" y="19659600"/>
            <a:ext cx="13167360" cy="2743200"/>
          </a:xfrm>
          <a:prstGeom prst="rect">
            <a:avLst/>
          </a:prstGeom>
          <a:noFill/>
          <a:ln/>
        </p:spPr>
        <p:txBody>
          <a:bodyPr wrap="square" lIns="0" tIns="0" rIns="0" bIns="0" rtlCol="0" anchor="t"/>
          <a:lstStyle/>
          <a:p>
            <a:pPr algn="l" indent="0" marL="0">
              <a:lnSpc>
                <a:spcPts val="2700"/>
              </a:lnSpc>
              <a:buNone/>
            </a:pPr>
            <a:r>
              <a:rPr lang="en-US" sz="1800" dirty="0">
                <a:solidFill>
                  <a:srgbClr val="1A1A2E"/>
                </a:solidFill>
                <a:latin typeface="Calibri" pitchFamily="34" charset="0"/>
                <a:ea typeface="Calibri" pitchFamily="34" charset="-122"/>
                <a:cs typeface="Calibri" pitchFamily="34" charset="-120"/>
              </a:rPr>
              <a:t>YelpCHI (Mukherjee et al., 2013)</a:t>
            </a:r>
            <a:endParaRPr lang="en-US" sz="1800" dirty="0"/>
          </a:p>
          <a:p>
            <a:pPr algn="l" indent="0" marL="0">
              <a:lnSpc>
                <a:spcPts val="2700"/>
              </a:lnSpc>
              <a:buNone/>
            </a:pPr>
            <a:r>
              <a:rPr lang="en-US" sz="1800" dirty="0">
                <a:solidFill>
                  <a:srgbClr val="1A1A2E"/>
                </a:solidFill>
                <a:latin typeface="Calibri" pitchFamily="34" charset="0"/>
                <a:ea typeface="Calibri" pitchFamily="34" charset="-122"/>
                <a:cs typeface="Calibri" pitchFamily="34" charset="-120"/>
              </a:rPr>
              <a:t>•  45,954 reviews from Yelp with ground-truth labels</a:t>
            </a:r>
            <a:endParaRPr lang="en-US" sz="1800" dirty="0"/>
          </a:p>
          <a:p>
            <a:pPr algn="l" indent="0" marL="0">
              <a:lnSpc>
                <a:spcPts val="2700"/>
              </a:lnSpc>
              <a:buNone/>
            </a:pPr>
            <a:r>
              <a:rPr lang="en-US" sz="1800" dirty="0">
                <a:solidFill>
                  <a:srgbClr val="1A1A2E"/>
                </a:solidFill>
                <a:latin typeface="Calibri" pitchFamily="34" charset="0"/>
                <a:ea typeface="Calibri" pitchFamily="34" charset="-122"/>
                <a:cs typeface="Calibri" pitchFamily="34" charset="-120"/>
              </a:rPr>
              <a:t>•  6,677 fake (14.5%) and 39,277 genuine (85.5%)</a:t>
            </a:r>
            <a:endParaRPr lang="en-US" sz="1800" dirty="0"/>
          </a:p>
          <a:p>
            <a:pPr algn="l" indent="0" marL="0">
              <a:lnSpc>
                <a:spcPts val="2700"/>
              </a:lnSpc>
              <a:buNone/>
            </a:pPr>
            <a:r>
              <a:rPr lang="en-US" sz="1800" dirty="0">
                <a:solidFill>
                  <a:srgbClr val="1A1A2E"/>
                </a:solidFill>
                <a:latin typeface="Calibri" pitchFamily="34" charset="0"/>
                <a:ea typeface="Calibri" pitchFamily="34" charset="-122"/>
                <a:cs typeface="Calibri" pitchFamily="34" charset="-120"/>
              </a:rPr>
              <a:t>•  32 pre-computed behavioral/metadata features</a:t>
            </a:r>
            <a:endParaRPr lang="en-US" sz="1800" dirty="0"/>
          </a:p>
          <a:p>
            <a:pPr algn="l" indent="0" marL="0">
              <a:lnSpc>
                <a:spcPts val="2700"/>
              </a:lnSpc>
              <a:buNone/>
            </a:pPr>
            <a:r>
              <a:rPr lang="en-US" sz="1800" dirty="0">
                <a:solidFill>
                  <a:srgbClr val="1A1A2E"/>
                </a:solidFill>
                <a:latin typeface="Calibri" pitchFamily="34" charset="0"/>
                <a:ea typeface="Calibri" pitchFamily="34" charset="-122"/>
                <a:cs typeface="Calibri" pitchFamily="34" charset="-120"/>
              </a:rPr>
              <a:t>•  80/20 stratified train-test split</a:t>
            </a:r>
            <a:endParaRPr lang="en-US" sz="1800" dirty="0"/>
          </a:p>
          <a:p>
            <a:pPr algn="l" indent="0" marL="0">
              <a:lnSpc>
                <a:spcPts val="2700"/>
              </a:lnSpc>
              <a:buNone/>
            </a:pPr>
            <a:r>
              <a:rPr lang="en-US" sz="1800" dirty="0">
                <a:solidFill>
                  <a:srgbClr val="1A1A2E"/>
                </a:solidFill>
                <a:latin typeface="Calibri" pitchFamily="34" charset="0"/>
                <a:ea typeface="Calibri" pitchFamily="34" charset="-122"/>
                <a:cs typeface="Calibri" pitchFamily="34" charset="-120"/>
              </a:rPr>
              <a:t>•  5-fold cross-validation for robustness evaluation</a:t>
            </a:r>
            <a:endParaRPr lang="en-US" sz="1800" dirty="0"/>
          </a:p>
        </p:txBody>
      </p:sp>
      <p:sp>
        <p:nvSpPr>
          <p:cNvPr id="20" name="Shape 18"/>
          <p:cNvSpPr/>
          <p:nvPr/>
        </p:nvSpPr>
        <p:spPr>
          <a:xfrm>
            <a:off x="731520" y="22677120"/>
            <a:ext cx="13167360" cy="73152"/>
          </a:xfrm>
          <a:prstGeom prst="rect">
            <a:avLst/>
          </a:prstGeom>
          <a:solidFill>
            <a:srgbClr val="1B9AAA"/>
          </a:solidFill>
          <a:ln/>
        </p:spPr>
      </p:sp>
      <p:sp>
        <p:nvSpPr>
          <p:cNvPr id="21" name="Text 19"/>
          <p:cNvSpPr/>
          <p:nvPr/>
        </p:nvSpPr>
        <p:spPr>
          <a:xfrm>
            <a:off x="731520" y="22814280"/>
            <a:ext cx="13167360" cy="685800"/>
          </a:xfrm>
          <a:prstGeom prst="rect">
            <a:avLst/>
          </a:prstGeom>
          <a:noFill/>
          <a:ln/>
        </p:spPr>
        <p:txBody>
          <a:bodyPr wrap="square" lIns="0" tIns="0" rIns="0" bIns="0" rtlCol="0" anchor="ctr"/>
          <a:lstStyle/>
          <a:p>
            <a:pPr indent="0" marL="0">
              <a:buNone/>
            </a:pPr>
            <a:r>
              <a:rPr lang="en-US" sz="2800" b="1" dirty="0">
                <a:solidFill>
                  <a:srgbClr val="0D1B2A"/>
                </a:solidFill>
                <a:latin typeface="Trebuchet MS" pitchFamily="34" charset="0"/>
                <a:ea typeface="Trebuchet MS" pitchFamily="34" charset="-122"/>
                <a:cs typeface="Trebuchet MS" pitchFamily="34" charset="-120"/>
              </a:rPr>
              <a:t>Conclusion &amp; Future Work</a:t>
            </a:r>
            <a:endParaRPr lang="en-US" sz="2800" dirty="0"/>
          </a:p>
        </p:txBody>
      </p:sp>
      <p:sp>
        <p:nvSpPr>
          <p:cNvPr id="22" name="Text 20"/>
          <p:cNvSpPr/>
          <p:nvPr/>
        </p:nvSpPr>
        <p:spPr>
          <a:xfrm>
            <a:off x="731520" y="23591520"/>
            <a:ext cx="13167360" cy="5029200"/>
          </a:xfrm>
          <a:prstGeom prst="rect">
            <a:avLst/>
          </a:prstGeom>
          <a:noFill/>
          <a:ln/>
        </p:spPr>
        <p:txBody>
          <a:bodyPr wrap="square" lIns="0" tIns="0" rIns="0" bIns="0" rtlCol="0" anchor="t"/>
          <a:lstStyle/>
          <a:p>
            <a:pPr algn="l" indent="0" marL="0">
              <a:lnSpc>
                <a:spcPts val="2700"/>
              </a:lnSpc>
              <a:buNone/>
            </a:pPr>
            <a:r>
              <a:rPr lang="en-US" sz="1800" dirty="0">
                <a:solidFill>
                  <a:srgbClr val="1A1A2E"/>
                </a:solidFill>
                <a:latin typeface="Calibri" pitchFamily="34" charset="0"/>
                <a:ea typeface="Calibri" pitchFamily="34" charset="-122"/>
                <a:cs typeface="Calibri" pitchFamily="34" charset="-120"/>
              </a:rPr>
              <a:t>ReviewGuard demonstrates that combining semantic and behavioral signals yields a more balanced and practical fake review detector than either modality alone.</a:t>
            </a:r>
            <a:endParaRPr lang="en-US" sz="1800" dirty="0"/>
          </a:p>
          <a:p>
            <a:pPr algn="l" indent="0" marL="0">
              <a:lnSpc>
                <a:spcPts val="2700"/>
              </a:lnSpc>
              <a:buNone/>
            </a:pPr>
            <a:endParaRPr lang="en-US" sz="1800" dirty="0"/>
          </a:p>
          <a:p>
            <a:pPr algn="l" indent="0" marL="0">
              <a:lnSpc>
                <a:spcPts val="2700"/>
              </a:lnSpc>
              <a:buNone/>
            </a:pPr>
            <a:r>
              <a:rPr lang="en-US" sz="1800" dirty="0">
                <a:solidFill>
                  <a:srgbClr val="1A1A2E"/>
                </a:solidFill>
                <a:latin typeface="Calibri" pitchFamily="34" charset="0"/>
                <a:ea typeface="Calibri" pitchFamily="34" charset="-122"/>
                <a:cs typeface="Calibri" pitchFamily="34" charset="-120"/>
              </a:rPr>
              <a:t>The late-fusion MLP architecture provides an effective and interpretable framework for multi-modal deception detection, with behavioral features providing the strongest individual signal.</a:t>
            </a:r>
            <a:endParaRPr lang="en-US" sz="1800" dirty="0"/>
          </a:p>
          <a:p>
            <a:pPr algn="l" indent="0" marL="0">
              <a:lnSpc>
                <a:spcPts val="2700"/>
              </a:lnSpc>
              <a:buNone/>
            </a:pPr>
            <a:endParaRPr lang="en-US" sz="1800" dirty="0"/>
          </a:p>
          <a:p>
            <a:pPr algn="l" indent="0" marL="0">
              <a:lnSpc>
                <a:spcPts val="2700"/>
              </a:lnSpc>
              <a:buNone/>
            </a:pPr>
            <a:r>
              <a:rPr lang="en-US" sz="1800" dirty="0">
                <a:solidFill>
                  <a:srgbClr val="1A1A2E"/>
                </a:solidFill>
                <a:latin typeface="Calibri" pitchFamily="34" charset="0"/>
                <a:ea typeface="Calibri" pitchFamily="34" charset="-122"/>
                <a:cs typeface="Calibri" pitchFamily="34" charset="-120"/>
              </a:rPr>
              <a:t>Future work includes:</a:t>
            </a:r>
            <a:endParaRPr lang="en-US" sz="1800" dirty="0"/>
          </a:p>
          <a:p>
            <a:pPr algn="l" indent="0" marL="0">
              <a:lnSpc>
                <a:spcPts val="2700"/>
              </a:lnSpc>
              <a:buNone/>
            </a:pPr>
            <a:r>
              <a:rPr lang="en-US" sz="1800" dirty="0">
                <a:solidFill>
                  <a:srgbClr val="1A1A2E"/>
                </a:solidFill>
                <a:latin typeface="Calibri" pitchFamily="34" charset="0"/>
                <a:ea typeface="Calibri" pitchFamily="34" charset="-122"/>
                <a:cs typeface="Calibri" pitchFamily="34" charset="-120"/>
              </a:rPr>
              <a:t>•  Incorporating graph-based reviewer relationships</a:t>
            </a:r>
            <a:endParaRPr lang="en-US" sz="1800" dirty="0"/>
          </a:p>
          <a:p>
            <a:pPr algn="l" indent="0" marL="0">
              <a:lnSpc>
                <a:spcPts val="2700"/>
              </a:lnSpc>
              <a:buNone/>
            </a:pPr>
            <a:r>
              <a:rPr lang="en-US" sz="1800" dirty="0">
                <a:solidFill>
                  <a:srgbClr val="1A1A2E"/>
                </a:solidFill>
                <a:latin typeface="Calibri" pitchFamily="34" charset="0"/>
                <a:ea typeface="Calibri" pitchFamily="34" charset="-122"/>
                <a:cs typeface="Calibri" pitchFamily="34" charset="-120"/>
              </a:rPr>
              <a:t>•  Modeling temporal dynamics of review patterns</a:t>
            </a:r>
            <a:endParaRPr lang="en-US" sz="1800" dirty="0"/>
          </a:p>
          <a:p>
            <a:pPr algn="l" indent="0" marL="0">
              <a:lnSpc>
                <a:spcPts val="2700"/>
              </a:lnSpc>
              <a:buNone/>
            </a:pPr>
            <a:r>
              <a:rPr lang="en-US" sz="1800" dirty="0">
                <a:solidFill>
                  <a:srgbClr val="1A1A2E"/>
                </a:solidFill>
                <a:latin typeface="Calibri" pitchFamily="34" charset="0"/>
                <a:ea typeface="Calibri" pitchFamily="34" charset="-122"/>
                <a:cs typeface="Calibri" pitchFamily="34" charset="-120"/>
              </a:rPr>
              <a:t>•  End-to-end transformer fine-tuning with raw review text</a:t>
            </a:r>
            <a:endParaRPr lang="en-US" sz="1800" dirty="0"/>
          </a:p>
          <a:p>
            <a:pPr algn="l" indent="0" marL="0">
              <a:lnSpc>
                <a:spcPts val="2700"/>
              </a:lnSpc>
              <a:buNone/>
            </a:pPr>
            <a:r>
              <a:rPr lang="en-US" sz="1800" dirty="0">
                <a:solidFill>
                  <a:srgbClr val="1A1A2E"/>
                </a:solidFill>
                <a:latin typeface="Calibri" pitchFamily="34" charset="0"/>
                <a:ea typeface="Calibri" pitchFamily="34" charset="-122"/>
                <a:cs typeface="Calibri" pitchFamily="34" charset="-120"/>
              </a:rPr>
              <a:t>•  Adversarial robustness evaluation against evolving fake review strategies</a:t>
            </a:r>
            <a:endParaRPr lang="en-US" sz="1800" dirty="0"/>
          </a:p>
        </p:txBody>
      </p:sp>
      <p:sp>
        <p:nvSpPr>
          <p:cNvPr id="23" name="Shape 21"/>
          <p:cNvSpPr/>
          <p:nvPr/>
        </p:nvSpPr>
        <p:spPr>
          <a:xfrm>
            <a:off x="731520" y="28620720"/>
            <a:ext cx="13167360" cy="73152"/>
          </a:xfrm>
          <a:prstGeom prst="rect">
            <a:avLst/>
          </a:prstGeom>
          <a:solidFill>
            <a:srgbClr val="1B9AAA"/>
          </a:solidFill>
          <a:ln/>
        </p:spPr>
      </p:sp>
      <p:sp>
        <p:nvSpPr>
          <p:cNvPr id="24" name="Text 22"/>
          <p:cNvSpPr/>
          <p:nvPr/>
        </p:nvSpPr>
        <p:spPr>
          <a:xfrm>
            <a:off x="731520" y="28757880"/>
            <a:ext cx="13167360" cy="685800"/>
          </a:xfrm>
          <a:prstGeom prst="rect">
            <a:avLst/>
          </a:prstGeom>
          <a:noFill/>
          <a:ln/>
        </p:spPr>
        <p:txBody>
          <a:bodyPr wrap="square" lIns="0" tIns="0" rIns="0" bIns="0" rtlCol="0" anchor="ctr"/>
          <a:lstStyle/>
          <a:p>
            <a:pPr indent="0" marL="0">
              <a:buNone/>
            </a:pPr>
            <a:r>
              <a:rPr lang="en-US" sz="2800" b="1" dirty="0">
                <a:solidFill>
                  <a:srgbClr val="0D1B2A"/>
                </a:solidFill>
                <a:latin typeface="Trebuchet MS" pitchFamily="34" charset="0"/>
                <a:ea typeface="Trebuchet MS" pitchFamily="34" charset="-122"/>
                <a:cs typeface="Trebuchet MS" pitchFamily="34" charset="-120"/>
              </a:rPr>
              <a:t>References</a:t>
            </a:r>
            <a:endParaRPr lang="en-US" sz="2800" dirty="0"/>
          </a:p>
        </p:txBody>
      </p:sp>
      <p:sp>
        <p:nvSpPr>
          <p:cNvPr id="25" name="Text 23"/>
          <p:cNvSpPr/>
          <p:nvPr/>
        </p:nvSpPr>
        <p:spPr>
          <a:xfrm>
            <a:off x="731520" y="29535120"/>
            <a:ext cx="13167360" cy="2286000"/>
          </a:xfrm>
          <a:prstGeom prst="rect">
            <a:avLst/>
          </a:prstGeom>
          <a:noFill/>
          <a:ln/>
        </p:spPr>
        <p:txBody>
          <a:bodyPr wrap="square" lIns="0" tIns="0" rIns="0" bIns="0" rtlCol="0" anchor="t"/>
          <a:lstStyle/>
          <a:p>
            <a:pPr algn="l" indent="0" marL="0">
              <a:lnSpc>
                <a:spcPts val="2100"/>
              </a:lnSpc>
              <a:buNone/>
            </a:pPr>
            <a:r>
              <a:rPr lang="en-US" sz="1400" dirty="0">
                <a:solidFill>
                  <a:srgbClr val="4A5568"/>
                </a:solidFill>
                <a:latin typeface="Calibri" pitchFamily="34" charset="0"/>
                <a:ea typeface="Calibri" pitchFamily="34" charset="-122"/>
                <a:cs typeface="Calibri" pitchFamily="34" charset="-120"/>
              </a:rPr>
              <a:t>[1] Mukherjee et al., "What Yelp Fake Review Filter Might Be Doing," ICWSM 2013</a:t>
            </a:r>
            <a:endParaRPr lang="en-US" sz="1400" dirty="0"/>
          </a:p>
          <a:p>
            <a:pPr algn="l" indent="0" marL="0">
              <a:lnSpc>
                <a:spcPts val="2100"/>
              </a:lnSpc>
              <a:buNone/>
            </a:pPr>
            <a:r>
              <a:rPr lang="en-US" sz="1400" dirty="0">
                <a:solidFill>
                  <a:srgbClr val="4A5568"/>
                </a:solidFill>
                <a:latin typeface="Calibri" pitchFamily="34" charset="0"/>
                <a:ea typeface="Calibri" pitchFamily="34" charset="-122"/>
                <a:cs typeface="Calibri" pitchFamily="34" charset="-120"/>
              </a:rPr>
              <a:t>[2] Devlin et al., "BERT: Pre-training of Deep Bidirectional Transformers," NAACL 2019</a:t>
            </a:r>
            <a:endParaRPr lang="en-US" sz="1400" dirty="0"/>
          </a:p>
          <a:p>
            <a:pPr algn="l" indent="0" marL="0">
              <a:lnSpc>
                <a:spcPts val="2100"/>
              </a:lnSpc>
              <a:buNone/>
            </a:pPr>
            <a:r>
              <a:rPr lang="en-US" sz="1400" dirty="0">
                <a:solidFill>
                  <a:srgbClr val="4A5568"/>
                </a:solidFill>
                <a:latin typeface="Calibri" pitchFamily="34" charset="0"/>
                <a:ea typeface="Calibri" pitchFamily="34" charset="-122"/>
                <a:cs typeface="Calibri" pitchFamily="34" charset="-120"/>
              </a:rPr>
              <a:t>[3] Rayana &amp; Akoglu, "Collective Opinion Spam Detection," KDD 2015</a:t>
            </a:r>
            <a:endParaRPr lang="en-US" sz="1400" dirty="0"/>
          </a:p>
          <a:p>
            <a:pPr algn="l" indent="0" marL="0">
              <a:lnSpc>
                <a:spcPts val="2100"/>
              </a:lnSpc>
              <a:buNone/>
            </a:pPr>
            <a:r>
              <a:rPr lang="en-US" sz="1400" dirty="0">
                <a:solidFill>
                  <a:srgbClr val="4A5568"/>
                </a:solidFill>
                <a:latin typeface="Calibri" pitchFamily="34" charset="0"/>
                <a:ea typeface="Calibri" pitchFamily="34" charset="-122"/>
                <a:cs typeface="Calibri" pitchFamily="34" charset="-120"/>
              </a:rPr>
              <a:t>[4] Ott et al., "Finding Deceptive Opinion Spam by Any Stretch," ACL 2011</a:t>
            </a:r>
            <a:endParaRPr lang="en-US" sz="1400" dirty="0"/>
          </a:p>
          <a:p>
            <a:pPr algn="l" indent="0" marL="0">
              <a:lnSpc>
                <a:spcPts val="2100"/>
              </a:lnSpc>
              <a:buNone/>
            </a:pPr>
            <a:r>
              <a:rPr lang="en-US" sz="1400" dirty="0">
                <a:solidFill>
                  <a:srgbClr val="4A5568"/>
                </a:solidFill>
                <a:latin typeface="Calibri" pitchFamily="34" charset="0"/>
                <a:ea typeface="Calibri" pitchFamily="34" charset="-122"/>
                <a:cs typeface="Calibri" pitchFamily="34" charset="-120"/>
              </a:rPr>
              <a:t>[5] Lundberg &amp; Lee, "A Unified Approach to Interpreting Model Predictions," NeurIPS 2017</a:t>
            </a:r>
            <a:endParaRPr lang="en-US" sz="1400" dirty="0"/>
          </a:p>
        </p:txBody>
      </p:sp>
      <p:sp>
        <p:nvSpPr>
          <p:cNvPr id="26" name="Shape 24"/>
          <p:cNvSpPr/>
          <p:nvPr/>
        </p:nvSpPr>
        <p:spPr>
          <a:xfrm>
            <a:off x="14630400" y="4754880"/>
            <a:ext cx="13167360" cy="73152"/>
          </a:xfrm>
          <a:prstGeom prst="rect">
            <a:avLst/>
          </a:prstGeom>
          <a:solidFill>
            <a:srgbClr val="1B9AAA"/>
          </a:solidFill>
          <a:ln/>
        </p:spPr>
      </p:sp>
      <p:sp>
        <p:nvSpPr>
          <p:cNvPr id="27" name="Text 25"/>
          <p:cNvSpPr/>
          <p:nvPr/>
        </p:nvSpPr>
        <p:spPr>
          <a:xfrm>
            <a:off x="14630400" y="4892040"/>
            <a:ext cx="13167360" cy="685800"/>
          </a:xfrm>
          <a:prstGeom prst="rect">
            <a:avLst/>
          </a:prstGeom>
          <a:noFill/>
          <a:ln/>
        </p:spPr>
        <p:txBody>
          <a:bodyPr wrap="square" lIns="0" tIns="0" rIns="0" bIns="0" rtlCol="0" anchor="ctr"/>
          <a:lstStyle/>
          <a:p>
            <a:pPr indent="0" marL="0">
              <a:buNone/>
            </a:pPr>
            <a:r>
              <a:rPr lang="en-US" sz="2800" b="1" dirty="0">
                <a:solidFill>
                  <a:srgbClr val="0D1B2A"/>
                </a:solidFill>
                <a:latin typeface="Trebuchet MS" pitchFamily="34" charset="0"/>
                <a:ea typeface="Trebuchet MS" pitchFamily="34" charset="-122"/>
                <a:cs typeface="Trebuchet MS" pitchFamily="34" charset="-120"/>
              </a:rPr>
              <a:t>Key Results</a:t>
            </a:r>
            <a:endParaRPr lang="en-US" sz="28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14630400" y="5669280"/>
          <a:ext cx="13167360" cy="914400"/>
        </p:xfrm>
        <a:graphic>
          <a:graphicData uri="http://schemas.openxmlformats.org/drawingml/2006/table">
            <a:tbl>
              <a:tblPr/>
              <a:tblGrid>
                <a:gridCol w="4389120"/>
                <a:gridCol w="2926080"/>
                <a:gridCol w="2926080"/>
                <a:gridCol w="2926080"/>
              </a:tblGrid>
              <a:tr h="502920">
                <a:tc>
                  <a:txBody>
                    <a:bodyPr/>
                    <a:lstStyle/>
                    <a:p>
                      <a:pPr algn="ctr" indent="0" marL="0">
                        <a:buNone/>
                      </a:pPr>
                      <a:r>
                        <a:rPr lang="en-US" sz="1600" b="1" dirty="0">
                          <a:solidFill>
                            <a:srgbClr val="FFFFFF"/>
                          </a:solidFill>
                          <a:latin typeface="Calibri" pitchFamily="34" charset="0"/>
                          <a:ea typeface="Calibri" pitchFamily="34" charset="-122"/>
                          <a:cs typeface="Calibri" pitchFamily="34" charset="-120"/>
                        </a:rPr>
                        <a:t>Model</a:t>
                      </a:r>
                      <a:endParaRPr lang="en-US" sz="1600" dirty="0">
                        <a:latin typeface="Calibri" charset="0"/>
                        <a:ea typeface="Calibri" charset="0"/>
                        <a:cs typeface="Calibri" charset="0"/>
                      </a:endParaRPr>
                    </a:p>
                  </a:txBody>
                  <a:tcPr marL="91440" marR="91440" marT="45720" marB="4572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0D1B2A"/>
                    </a:solidFill>
                  </a:tcPr>
                </a:tc>
                <a:tc>
                  <a:txBody>
                    <a:bodyPr/>
                    <a:lstStyle/>
                    <a:p>
                      <a:pPr algn="ctr" indent="0" marL="0">
                        <a:buNone/>
                      </a:pPr>
                      <a:r>
                        <a:rPr lang="en-US" sz="1600" b="1" dirty="0">
                          <a:solidFill>
                            <a:srgbClr val="FFFFFF"/>
                          </a:solidFill>
                          <a:latin typeface="Calibri" pitchFamily="34" charset="0"/>
                          <a:ea typeface="Calibri" pitchFamily="34" charset="-122"/>
                          <a:cs typeface="Calibri" pitchFamily="34" charset="-120"/>
                        </a:rPr>
                        <a:t>AUC-ROC</a:t>
                      </a:r>
                      <a:endParaRPr lang="en-US" sz="1600" dirty="0">
                        <a:latin typeface="Calibri" charset="0"/>
                        <a:ea typeface="Calibri" charset="0"/>
                        <a:cs typeface="Calibri" charset="0"/>
                      </a:endParaRPr>
                    </a:p>
                  </a:txBody>
                  <a:tcPr marL="91440" marR="91440" marT="45720" marB="4572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0D1B2A"/>
                    </a:solidFill>
                  </a:tcPr>
                </a:tc>
                <a:tc>
                  <a:txBody>
                    <a:bodyPr/>
                    <a:lstStyle/>
                    <a:p>
                      <a:pPr algn="ctr" indent="0" marL="0">
                        <a:buNone/>
                      </a:pPr>
                      <a:r>
                        <a:rPr lang="en-US" sz="1600" b="1" dirty="0">
                          <a:solidFill>
                            <a:srgbClr val="FFFFFF"/>
                          </a:solidFill>
                          <a:latin typeface="Calibri" pitchFamily="34" charset="0"/>
                          <a:ea typeface="Calibri" pitchFamily="34" charset="-122"/>
                          <a:cs typeface="Calibri" pitchFamily="34" charset="-120"/>
                        </a:rPr>
                        <a:t>Macro-F1</a:t>
                      </a:r>
                      <a:endParaRPr lang="en-US" sz="1600" dirty="0">
                        <a:latin typeface="Calibri" charset="0"/>
                        <a:ea typeface="Calibri" charset="0"/>
                        <a:cs typeface="Calibri" charset="0"/>
                      </a:endParaRPr>
                    </a:p>
                  </a:txBody>
                  <a:tcPr marL="91440" marR="91440" marT="45720" marB="4572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0D1B2A"/>
                    </a:solidFill>
                  </a:tcPr>
                </a:tc>
                <a:tc>
                  <a:txBody>
                    <a:bodyPr/>
                    <a:lstStyle/>
                    <a:p>
                      <a:pPr algn="ctr" indent="0" marL="0">
                        <a:buNone/>
                      </a:pPr>
                      <a:r>
                        <a:rPr lang="en-US" sz="1600" b="1" dirty="0">
                          <a:solidFill>
                            <a:srgbClr val="FFFFFF"/>
                          </a:solidFill>
                          <a:latin typeface="Calibri" pitchFamily="34" charset="0"/>
                          <a:ea typeface="Calibri" pitchFamily="34" charset="-122"/>
                          <a:cs typeface="Calibri" pitchFamily="34" charset="-120"/>
                        </a:rPr>
                        <a:t>Recall (Fake)</a:t>
                      </a:r>
                      <a:endParaRPr lang="en-US" sz="1600" dirty="0">
                        <a:latin typeface="Calibri" charset="0"/>
                        <a:ea typeface="Calibri" charset="0"/>
                        <a:cs typeface="Calibri" charset="0"/>
                      </a:endParaRPr>
                    </a:p>
                  </a:txBody>
                  <a:tcPr marL="91440" marR="91440" marT="45720" marB="4572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0D1B2A"/>
                    </a:solidFill>
                  </a:tcPr>
                </a:tc>
              </a:tr>
              <a:tr h="457200">
                <a:tc>
                  <a:txBody>
                    <a:bodyPr/>
                    <a:lstStyle/>
                    <a:p>
                      <a:pPr algn="l" indent="0" marL="0">
                        <a:buNone/>
                      </a:pPr>
                      <a:r>
                        <a:rPr lang="en-US" sz="1500" dirty="0">
                          <a:solidFill>
                            <a:srgbClr val="000000"/>
                          </a:solidFill>
                          <a:latin typeface="Calibri" pitchFamily="34" charset="0"/>
                          <a:ea typeface="Calibri" pitchFamily="34" charset="-122"/>
                          <a:cs typeface="Calibri" pitchFamily="34" charset="-120"/>
                        </a:rPr>
                        <a:t>Logistic Regression</a:t>
                      </a:r>
                      <a:endParaRPr lang="en-US" sz="1500" dirty="0">
                        <a:latin typeface="Calibri" charset="0"/>
                        <a:ea typeface="Calibri" charset="0"/>
                        <a:cs typeface="Calibri" charset="0"/>
                      </a:endParaRPr>
                    </a:p>
                  </a:txBody>
                  <a:tcPr marL="91440" marR="91440" marT="45720" marB="4572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tc>
                  <a:txBody>
                    <a:bodyPr/>
                    <a:lstStyle/>
                    <a:p>
                      <a:pPr algn="ctr" indent="0" marL="0">
                        <a:buNone/>
                      </a:pPr>
                      <a:r>
                        <a:rPr lang="en-US" sz="1500" dirty="0">
                          <a:solidFill>
                            <a:srgbClr val="000000"/>
                          </a:solidFill>
                          <a:latin typeface="Calibri" pitchFamily="34" charset="0"/>
                          <a:ea typeface="Calibri" pitchFamily="34" charset="-122"/>
                          <a:cs typeface="Calibri" pitchFamily="34" charset="-120"/>
                        </a:rPr>
                        <a:t>0.771</a:t>
                      </a:r>
                      <a:endParaRPr lang="en-US" sz="1500" dirty="0">
                        <a:latin typeface="Calibri" charset="0"/>
                        <a:ea typeface="Calibri" charset="0"/>
                        <a:cs typeface="Calibri" charset="0"/>
                      </a:endParaRPr>
                    </a:p>
                  </a:txBody>
                  <a:tcPr marL="91440" marR="91440" marT="45720" marB="4572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tc>
                  <a:txBody>
                    <a:bodyPr/>
                    <a:lstStyle/>
                    <a:p>
                      <a:pPr algn="ctr" indent="0" marL="0">
                        <a:buNone/>
                      </a:pPr>
                      <a:r>
                        <a:rPr lang="en-US" sz="1500" dirty="0">
                          <a:solidFill>
                            <a:srgbClr val="000000"/>
                          </a:solidFill>
                          <a:latin typeface="Calibri" pitchFamily="34" charset="0"/>
                          <a:ea typeface="Calibri" pitchFamily="34" charset="-122"/>
                          <a:cs typeface="Calibri" pitchFamily="34" charset="-120"/>
                        </a:rPr>
                        <a:t>0.608</a:t>
                      </a:r>
                      <a:endParaRPr lang="en-US" sz="1500" dirty="0">
                        <a:latin typeface="Calibri" charset="0"/>
                        <a:ea typeface="Calibri" charset="0"/>
                        <a:cs typeface="Calibri" charset="0"/>
                      </a:endParaRPr>
                    </a:p>
                  </a:txBody>
                  <a:tcPr marL="91440" marR="91440" marT="45720" marB="4572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tc>
                  <a:txBody>
                    <a:bodyPr/>
                    <a:lstStyle/>
                    <a:p>
                      <a:pPr algn="ctr" indent="0" marL="0">
                        <a:buNone/>
                      </a:pPr>
                      <a:r>
                        <a:rPr lang="en-US" sz="1500" dirty="0">
                          <a:solidFill>
                            <a:srgbClr val="000000"/>
                          </a:solidFill>
                          <a:latin typeface="Calibri" pitchFamily="34" charset="0"/>
                          <a:ea typeface="Calibri" pitchFamily="34" charset="-122"/>
                          <a:cs typeface="Calibri" pitchFamily="34" charset="-120"/>
                        </a:rPr>
                        <a:t>0.681</a:t>
                      </a:r>
                      <a:endParaRPr lang="en-US" sz="1500" dirty="0">
                        <a:latin typeface="Calibri" charset="0"/>
                        <a:ea typeface="Calibri" charset="0"/>
                        <a:cs typeface="Calibri" charset="0"/>
                      </a:endParaRPr>
                    </a:p>
                  </a:txBody>
                  <a:tcPr marL="91440" marR="91440" marT="45720" marB="4572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tr>
              <a:tr h="457200">
                <a:tc>
                  <a:txBody>
                    <a:bodyPr/>
                    <a:lstStyle/>
                    <a:p>
                      <a:pPr algn="l" indent="0" marL="0">
                        <a:buNone/>
                      </a:pPr>
                      <a:r>
                        <a:rPr lang="en-US" sz="1500" dirty="0">
                          <a:solidFill>
                            <a:srgbClr val="000000"/>
                          </a:solidFill>
                          <a:latin typeface="Calibri" pitchFamily="34" charset="0"/>
                          <a:ea typeface="Calibri" pitchFamily="34" charset="-122"/>
                          <a:cs typeface="Calibri" pitchFamily="34" charset="-120"/>
                        </a:rPr>
                        <a:t>SVM (RBF)</a:t>
                      </a:r>
                      <a:endParaRPr lang="en-US" sz="1500" dirty="0">
                        <a:latin typeface="Calibri" charset="0"/>
                        <a:ea typeface="Calibri" charset="0"/>
                        <a:cs typeface="Calibri" charset="0"/>
                      </a:endParaRPr>
                    </a:p>
                  </a:txBody>
                  <a:tcPr marL="91440" marR="91440" marT="45720" marB="4572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AFC"/>
                    </a:solidFill>
                  </a:tcPr>
                </a:tc>
                <a:tc>
                  <a:txBody>
                    <a:bodyPr/>
                    <a:lstStyle/>
                    <a:p>
                      <a:pPr algn="ctr" indent="0" marL="0">
                        <a:buNone/>
                      </a:pPr>
                      <a:r>
                        <a:rPr lang="en-US" sz="1500" dirty="0">
                          <a:solidFill>
                            <a:srgbClr val="000000"/>
                          </a:solidFill>
                          <a:latin typeface="Calibri" pitchFamily="34" charset="0"/>
                          <a:ea typeface="Calibri" pitchFamily="34" charset="-122"/>
                          <a:cs typeface="Calibri" pitchFamily="34" charset="-120"/>
                        </a:rPr>
                        <a:t>0.837</a:t>
                      </a:r>
                      <a:endParaRPr lang="en-US" sz="1500" dirty="0">
                        <a:latin typeface="Calibri" charset="0"/>
                        <a:ea typeface="Calibri" charset="0"/>
                        <a:cs typeface="Calibri" charset="0"/>
                      </a:endParaRPr>
                    </a:p>
                  </a:txBody>
                  <a:tcPr marL="91440" marR="91440" marT="45720" marB="4572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AFC"/>
                    </a:solidFill>
                  </a:tcPr>
                </a:tc>
                <a:tc>
                  <a:txBody>
                    <a:bodyPr/>
                    <a:lstStyle/>
                    <a:p>
                      <a:pPr algn="ctr" indent="0" marL="0">
                        <a:buNone/>
                      </a:pPr>
                      <a:r>
                        <a:rPr lang="en-US" sz="1500" dirty="0">
                          <a:solidFill>
                            <a:srgbClr val="000000"/>
                          </a:solidFill>
                          <a:latin typeface="Calibri" pitchFamily="34" charset="0"/>
                          <a:ea typeface="Calibri" pitchFamily="34" charset="-122"/>
                          <a:cs typeface="Calibri" pitchFamily="34" charset="-120"/>
                        </a:rPr>
                        <a:t>0.713</a:t>
                      </a:r>
                      <a:endParaRPr lang="en-US" sz="1500" dirty="0">
                        <a:latin typeface="Calibri" charset="0"/>
                        <a:ea typeface="Calibri" charset="0"/>
                        <a:cs typeface="Calibri" charset="0"/>
                      </a:endParaRPr>
                    </a:p>
                  </a:txBody>
                  <a:tcPr marL="91440" marR="91440" marT="45720" marB="4572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AFC"/>
                    </a:solidFill>
                  </a:tcPr>
                </a:tc>
                <a:tc>
                  <a:txBody>
                    <a:bodyPr/>
                    <a:lstStyle/>
                    <a:p>
                      <a:pPr algn="ctr" indent="0" marL="0">
                        <a:buNone/>
                      </a:pPr>
                      <a:r>
                        <a:rPr lang="en-US" sz="1500" dirty="0">
                          <a:solidFill>
                            <a:srgbClr val="000000"/>
                          </a:solidFill>
                          <a:latin typeface="Calibri" pitchFamily="34" charset="0"/>
                          <a:ea typeface="Calibri" pitchFamily="34" charset="-122"/>
                          <a:cs typeface="Calibri" pitchFamily="34" charset="-120"/>
                        </a:rPr>
                        <a:t>0.625</a:t>
                      </a:r>
                      <a:endParaRPr lang="en-US" sz="1500" dirty="0">
                        <a:latin typeface="Calibri" charset="0"/>
                        <a:ea typeface="Calibri" charset="0"/>
                        <a:cs typeface="Calibri" charset="0"/>
                      </a:endParaRPr>
                    </a:p>
                  </a:txBody>
                  <a:tcPr marL="91440" marR="91440" marT="45720" marB="4572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AFC"/>
                    </a:solidFill>
                  </a:tcPr>
                </a:tc>
              </a:tr>
              <a:tr h="457200">
                <a:tc>
                  <a:txBody>
                    <a:bodyPr/>
                    <a:lstStyle/>
                    <a:p>
                      <a:pPr algn="l" indent="0" marL="0">
                        <a:buNone/>
                      </a:pPr>
                      <a:r>
                        <a:rPr lang="en-US" sz="1500" dirty="0">
                          <a:solidFill>
                            <a:srgbClr val="000000"/>
                          </a:solidFill>
                          <a:latin typeface="Calibri" pitchFamily="34" charset="0"/>
                          <a:ea typeface="Calibri" pitchFamily="34" charset="-122"/>
                          <a:cs typeface="Calibri" pitchFamily="34" charset="-120"/>
                        </a:rPr>
                        <a:t>Random Forest</a:t>
                      </a:r>
                      <a:endParaRPr lang="en-US" sz="1500" dirty="0">
                        <a:latin typeface="Calibri" charset="0"/>
                        <a:ea typeface="Calibri" charset="0"/>
                        <a:cs typeface="Calibri" charset="0"/>
                      </a:endParaRPr>
                    </a:p>
                  </a:txBody>
                  <a:tcPr marL="91440" marR="91440" marT="45720" marB="4572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tc>
                  <a:txBody>
                    <a:bodyPr/>
                    <a:lstStyle/>
                    <a:p>
                      <a:pPr algn="ctr" indent="0" marL="0">
                        <a:buNone/>
                      </a:pPr>
                      <a:r>
                        <a:rPr lang="en-US" sz="1500" dirty="0">
                          <a:solidFill>
                            <a:srgbClr val="000000"/>
                          </a:solidFill>
                          <a:latin typeface="Calibri" pitchFamily="34" charset="0"/>
                          <a:ea typeface="Calibri" pitchFamily="34" charset="-122"/>
                          <a:cs typeface="Calibri" pitchFamily="34" charset="-120"/>
                        </a:rPr>
                        <a:t>0.926</a:t>
                      </a:r>
                      <a:endParaRPr lang="en-US" sz="1500" dirty="0">
                        <a:latin typeface="Calibri" charset="0"/>
                        <a:ea typeface="Calibri" charset="0"/>
                        <a:cs typeface="Calibri" charset="0"/>
                      </a:endParaRPr>
                    </a:p>
                  </a:txBody>
                  <a:tcPr marL="91440" marR="91440" marT="45720" marB="4572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tc>
                  <a:txBody>
                    <a:bodyPr/>
                    <a:lstStyle/>
                    <a:p>
                      <a:pPr algn="ctr" indent="0" marL="0">
                        <a:buNone/>
                      </a:pPr>
                      <a:r>
                        <a:rPr lang="en-US" sz="1500" dirty="0">
                          <a:solidFill>
                            <a:srgbClr val="000000"/>
                          </a:solidFill>
                          <a:latin typeface="Calibri" pitchFamily="34" charset="0"/>
                          <a:ea typeface="Calibri" pitchFamily="34" charset="-122"/>
                          <a:cs typeface="Calibri" pitchFamily="34" charset="-120"/>
                        </a:rPr>
                        <a:t>0.720</a:t>
                      </a:r>
                      <a:endParaRPr lang="en-US" sz="1500" dirty="0">
                        <a:latin typeface="Calibri" charset="0"/>
                        <a:ea typeface="Calibri" charset="0"/>
                        <a:cs typeface="Calibri" charset="0"/>
                      </a:endParaRPr>
                    </a:p>
                  </a:txBody>
                  <a:tcPr marL="91440" marR="91440" marT="45720" marB="4572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tc>
                  <a:txBody>
                    <a:bodyPr/>
                    <a:lstStyle/>
                    <a:p>
                      <a:pPr algn="ctr" indent="0" marL="0">
                        <a:buNone/>
                      </a:pPr>
                      <a:r>
                        <a:rPr lang="en-US" sz="1500" dirty="0">
                          <a:solidFill>
                            <a:srgbClr val="000000"/>
                          </a:solidFill>
                          <a:latin typeface="Calibri" pitchFamily="34" charset="0"/>
                          <a:ea typeface="Calibri" pitchFamily="34" charset="-122"/>
                          <a:cs typeface="Calibri" pitchFamily="34" charset="-120"/>
                        </a:rPr>
                        <a:t>0.343</a:t>
                      </a:r>
                      <a:endParaRPr lang="en-US" sz="1500" dirty="0">
                        <a:latin typeface="Calibri" charset="0"/>
                        <a:ea typeface="Calibri" charset="0"/>
                        <a:cs typeface="Calibri" charset="0"/>
                      </a:endParaRPr>
                    </a:p>
                  </a:txBody>
                  <a:tcPr marL="91440" marR="91440" marT="45720" marB="4572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tr>
              <a:tr h="457200">
                <a:tc>
                  <a:txBody>
                    <a:bodyPr/>
                    <a:lstStyle/>
                    <a:p>
                      <a:pPr algn="l" indent="0" marL="0">
                        <a:buNone/>
                      </a:pPr>
                      <a:r>
                        <a:rPr lang="en-US" sz="1500" dirty="0">
                          <a:solidFill>
                            <a:srgbClr val="000000"/>
                          </a:solidFill>
                          <a:latin typeface="Calibri" pitchFamily="34" charset="0"/>
                          <a:ea typeface="Calibri" pitchFamily="34" charset="-122"/>
                          <a:cs typeface="Calibri" pitchFamily="34" charset="-120"/>
                        </a:rPr>
                        <a:t>Behavior MLP</a:t>
                      </a:r>
                      <a:endParaRPr lang="en-US" sz="1500" dirty="0">
                        <a:latin typeface="Calibri" charset="0"/>
                        <a:ea typeface="Calibri" charset="0"/>
                        <a:cs typeface="Calibri" charset="0"/>
                      </a:endParaRPr>
                    </a:p>
                  </a:txBody>
                  <a:tcPr marL="91440" marR="91440" marT="45720" marB="4572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AFC"/>
                    </a:solidFill>
                  </a:tcPr>
                </a:tc>
                <a:tc>
                  <a:txBody>
                    <a:bodyPr/>
                    <a:lstStyle/>
                    <a:p>
                      <a:pPr algn="ctr" indent="0" marL="0">
                        <a:buNone/>
                      </a:pPr>
                      <a:r>
                        <a:rPr lang="en-US" sz="1500" dirty="0">
                          <a:solidFill>
                            <a:srgbClr val="000000"/>
                          </a:solidFill>
                          <a:latin typeface="Calibri" pitchFamily="34" charset="0"/>
                          <a:ea typeface="Calibri" pitchFamily="34" charset="-122"/>
                          <a:cs typeface="Calibri" pitchFamily="34" charset="-120"/>
                        </a:rPr>
                        <a:t>0.803</a:t>
                      </a:r>
                      <a:endParaRPr lang="en-US" sz="1500" dirty="0">
                        <a:latin typeface="Calibri" charset="0"/>
                        <a:ea typeface="Calibri" charset="0"/>
                        <a:cs typeface="Calibri" charset="0"/>
                      </a:endParaRPr>
                    </a:p>
                  </a:txBody>
                  <a:tcPr marL="91440" marR="91440" marT="45720" marB="4572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AFC"/>
                    </a:solidFill>
                  </a:tcPr>
                </a:tc>
                <a:tc>
                  <a:txBody>
                    <a:bodyPr/>
                    <a:lstStyle/>
                    <a:p>
                      <a:pPr algn="ctr" indent="0" marL="0">
                        <a:buNone/>
                      </a:pPr>
                      <a:r>
                        <a:rPr lang="en-US" sz="1500" dirty="0">
                          <a:solidFill>
                            <a:srgbClr val="000000"/>
                          </a:solidFill>
                          <a:latin typeface="Calibri" pitchFamily="34" charset="0"/>
                          <a:ea typeface="Calibri" pitchFamily="34" charset="-122"/>
                          <a:cs typeface="Calibri" pitchFamily="34" charset="-120"/>
                        </a:rPr>
                        <a:t>0.623</a:t>
                      </a:r>
                      <a:endParaRPr lang="en-US" sz="1500" dirty="0">
                        <a:latin typeface="Calibri" charset="0"/>
                        <a:ea typeface="Calibri" charset="0"/>
                        <a:cs typeface="Calibri" charset="0"/>
                      </a:endParaRPr>
                    </a:p>
                  </a:txBody>
                  <a:tcPr marL="91440" marR="91440" marT="45720" marB="4572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AFC"/>
                    </a:solidFill>
                  </a:tcPr>
                </a:tc>
                <a:tc>
                  <a:txBody>
                    <a:bodyPr/>
                    <a:lstStyle/>
                    <a:p>
                      <a:pPr algn="ctr" indent="0" marL="0">
                        <a:buNone/>
                      </a:pPr>
                      <a:r>
                        <a:rPr lang="en-US" sz="1500" dirty="0">
                          <a:solidFill>
                            <a:srgbClr val="000000"/>
                          </a:solidFill>
                          <a:latin typeface="Calibri" pitchFamily="34" charset="0"/>
                          <a:ea typeface="Calibri" pitchFamily="34" charset="-122"/>
                          <a:cs typeface="Calibri" pitchFamily="34" charset="-120"/>
                        </a:rPr>
                        <a:t>0.753</a:t>
                      </a:r>
                      <a:endParaRPr lang="en-US" sz="1500" dirty="0">
                        <a:latin typeface="Calibri" charset="0"/>
                        <a:ea typeface="Calibri" charset="0"/>
                        <a:cs typeface="Calibri" charset="0"/>
                      </a:endParaRPr>
                    </a:p>
                  </a:txBody>
                  <a:tcPr marL="91440" marR="91440" marT="45720" marB="4572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AFC"/>
                    </a:solidFill>
                  </a:tcPr>
                </a:tc>
              </a:tr>
              <a:tr h="457200">
                <a:tc>
                  <a:txBody>
                    <a:bodyPr/>
                    <a:lstStyle/>
                    <a:p>
                      <a:pPr algn="l" indent="0" marL="0">
                        <a:buNone/>
                      </a:pPr>
                      <a:r>
                        <a:rPr lang="en-US" sz="1500" dirty="0">
                          <a:solidFill>
                            <a:srgbClr val="000000"/>
                          </a:solidFill>
                          <a:latin typeface="Calibri" pitchFamily="34" charset="0"/>
                          <a:ea typeface="Calibri" pitchFamily="34" charset="-122"/>
                          <a:cs typeface="Calibri" pitchFamily="34" charset="-120"/>
                        </a:rPr>
                        <a:t>Text-like MLP</a:t>
                      </a:r>
                      <a:endParaRPr lang="en-US" sz="1500" dirty="0">
                        <a:latin typeface="Calibri" charset="0"/>
                        <a:ea typeface="Calibri" charset="0"/>
                        <a:cs typeface="Calibri" charset="0"/>
                      </a:endParaRPr>
                    </a:p>
                  </a:txBody>
                  <a:tcPr marL="91440" marR="91440" marT="45720" marB="4572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tc>
                  <a:txBody>
                    <a:bodyPr/>
                    <a:lstStyle/>
                    <a:p>
                      <a:pPr algn="ctr" indent="0" marL="0">
                        <a:buNone/>
                      </a:pPr>
                      <a:r>
                        <a:rPr lang="en-US" sz="1500" dirty="0">
                          <a:solidFill>
                            <a:srgbClr val="000000"/>
                          </a:solidFill>
                          <a:latin typeface="Calibri" pitchFamily="34" charset="0"/>
                          <a:ea typeface="Calibri" pitchFamily="34" charset="-122"/>
                          <a:cs typeface="Calibri" pitchFamily="34" charset="-120"/>
                        </a:rPr>
                        <a:t>0.777</a:t>
                      </a:r>
                      <a:endParaRPr lang="en-US" sz="1500" dirty="0">
                        <a:latin typeface="Calibri" charset="0"/>
                        <a:ea typeface="Calibri" charset="0"/>
                        <a:cs typeface="Calibri" charset="0"/>
                      </a:endParaRPr>
                    </a:p>
                  </a:txBody>
                  <a:tcPr marL="91440" marR="91440" marT="45720" marB="4572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tc>
                  <a:txBody>
                    <a:bodyPr/>
                    <a:lstStyle/>
                    <a:p>
                      <a:pPr algn="ctr" indent="0" marL="0">
                        <a:buNone/>
                      </a:pPr>
                      <a:r>
                        <a:rPr lang="en-US" sz="1500" dirty="0">
                          <a:solidFill>
                            <a:srgbClr val="000000"/>
                          </a:solidFill>
                          <a:latin typeface="Calibri" pitchFamily="34" charset="0"/>
                          <a:ea typeface="Calibri" pitchFamily="34" charset="-122"/>
                          <a:cs typeface="Calibri" pitchFamily="34" charset="-120"/>
                        </a:rPr>
                        <a:t>0.616</a:t>
                      </a:r>
                      <a:endParaRPr lang="en-US" sz="1500" dirty="0">
                        <a:latin typeface="Calibri" charset="0"/>
                        <a:ea typeface="Calibri" charset="0"/>
                        <a:cs typeface="Calibri" charset="0"/>
                      </a:endParaRPr>
                    </a:p>
                  </a:txBody>
                  <a:tcPr marL="91440" marR="91440" marT="45720" marB="4572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tc>
                  <a:txBody>
                    <a:bodyPr/>
                    <a:lstStyle/>
                    <a:p>
                      <a:pPr algn="ctr" indent="0" marL="0">
                        <a:buNone/>
                      </a:pPr>
                      <a:r>
                        <a:rPr lang="en-US" sz="1500" dirty="0">
                          <a:solidFill>
                            <a:srgbClr val="000000"/>
                          </a:solidFill>
                          <a:latin typeface="Calibri" pitchFamily="34" charset="0"/>
                          <a:ea typeface="Calibri" pitchFamily="34" charset="-122"/>
                          <a:cs typeface="Calibri" pitchFamily="34" charset="-120"/>
                        </a:rPr>
                        <a:t>0.656</a:t>
                      </a:r>
                      <a:endParaRPr lang="en-US" sz="1500" dirty="0">
                        <a:latin typeface="Calibri" charset="0"/>
                        <a:ea typeface="Calibri" charset="0"/>
                        <a:cs typeface="Calibri" charset="0"/>
                      </a:endParaRPr>
                    </a:p>
                  </a:txBody>
                  <a:tcPr marL="91440" marR="91440" marT="45720" marB="4572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tr>
              <a:tr h="502920">
                <a:tc>
                  <a:txBody>
                    <a:bodyPr/>
                    <a:lstStyle/>
                    <a:p>
                      <a:pPr algn="l" indent="0" marL="0">
                        <a:buNone/>
                      </a:pPr>
                      <a:r>
                        <a:rPr lang="en-US" sz="1500" b="1" dirty="0">
                          <a:solidFill>
                            <a:srgbClr val="0D6E6E"/>
                          </a:solidFill>
                          <a:latin typeface="Calibri" pitchFamily="34" charset="0"/>
                          <a:ea typeface="Calibri" pitchFamily="34" charset="-122"/>
                          <a:cs typeface="Calibri" pitchFamily="34" charset="-120"/>
                        </a:rPr>
                        <a:t>ReviewGuard (Ours)</a:t>
                      </a:r>
                      <a:endParaRPr lang="en-US" sz="1500" dirty="0">
                        <a:latin typeface="Calibri" charset="0"/>
                        <a:ea typeface="Calibri" charset="0"/>
                        <a:cs typeface="Calibri" charset="0"/>
                      </a:endParaRPr>
                    </a:p>
                  </a:txBody>
                  <a:tcPr marL="91440" marR="91440" marT="45720" marB="4572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6F4F1"/>
                    </a:solidFill>
                  </a:tcPr>
                </a:tc>
                <a:tc>
                  <a:txBody>
                    <a:bodyPr/>
                    <a:lstStyle/>
                    <a:p>
                      <a:pPr algn="ctr" indent="0" marL="0">
                        <a:buNone/>
                      </a:pPr>
                      <a:r>
                        <a:rPr lang="en-US" sz="1500" b="1" dirty="0">
                          <a:solidFill>
                            <a:srgbClr val="0D6E6E"/>
                          </a:solidFill>
                          <a:latin typeface="Calibri" pitchFamily="34" charset="0"/>
                          <a:ea typeface="Calibri" pitchFamily="34" charset="-122"/>
                          <a:cs typeface="Calibri" pitchFamily="34" charset="-120"/>
                        </a:rPr>
                        <a:t>0.867</a:t>
                      </a:r>
                      <a:endParaRPr lang="en-US" sz="1500" dirty="0">
                        <a:latin typeface="Calibri" charset="0"/>
                        <a:ea typeface="Calibri" charset="0"/>
                        <a:cs typeface="Calibri" charset="0"/>
                      </a:endParaRPr>
                    </a:p>
                  </a:txBody>
                  <a:tcPr marL="91440" marR="91440" marT="45720" marB="4572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6F4F1"/>
                    </a:solidFill>
                  </a:tcPr>
                </a:tc>
                <a:tc>
                  <a:txBody>
                    <a:bodyPr/>
                    <a:lstStyle/>
                    <a:p>
                      <a:pPr algn="ctr" indent="0" marL="0">
                        <a:buNone/>
                      </a:pPr>
                      <a:r>
                        <a:rPr lang="en-US" sz="1500" b="1" dirty="0">
                          <a:solidFill>
                            <a:srgbClr val="0D6E6E"/>
                          </a:solidFill>
                          <a:latin typeface="Calibri" pitchFamily="34" charset="0"/>
                          <a:ea typeface="Calibri" pitchFamily="34" charset="-122"/>
                          <a:cs typeface="Calibri" pitchFamily="34" charset="-120"/>
                        </a:rPr>
                        <a:t>0.706</a:t>
                      </a:r>
                      <a:endParaRPr lang="en-US" sz="1500" dirty="0">
                        <a:latin typeface="Calibri" charset="0"/>
                        <a:ea typeface="Calibri" charset="0"/>
                        <a:cs typeface="Calibri" charset="0"/>
                      </a:endParaRPr>
                    </a:p>
                  </a:txBody>
                  <a:tcPr marL="91440" marR="91440" marT="45720" marB="4572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6F4F1"/>
                    </a:solidFill>
                  </a:tcPr>
                </a:tc>
                <a:tc>
                  <a:txBody>
                    <a:bodyPr/>
                    <a:lstStyle/>
                    <a:p>
                      <a:pPr algn="ctr" indent="0" marL="0">
                        <a:buNone/>
                      </a:pPr>
                      <a:r>
                        <a:rPr lang="en-US" sz="1500" b="1" dirty="0">
                          <a:solidFill>
                            <a:srgbClr val="0D6E6E"/>
                          </a:solidFill>
                          <a:latin typeface="Calibri" pitchFamily="34" charset="0"/>
                          <a:ea typeface="Calibri" pitchFamily="34" charset="-122"/>
                          <a:cs typeface="Calibri" pitchFamily="34" charset="-120"/>
                        </a:rPr>
                        <a:t>0.756</a:t>
                      </a:r>
                      <a:endParaRPr lang="en-US" sz="1500" dirty="0">
                        <a:latin typeface="Calibri" charset="0"/>
                        <a:ea typeface="Calibri" charset="0"/>
                        <a:cs typeface="Calibri" charset="0"/>
                      </a:endParaRPr>
                    </a:p>
                  </a:txBody>
                  <a:tcPr marL="91440" marR="91440" marT="45720" marB="4572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6F4F1"/>
                    </a:solidFill>
                  </a:tcPr>
                </a:tc>
              </a:tr>
            </a:tbl>
          </a:graphicData>
        </a:graphic>
      </p:graphicFrame>
      <p:sp>
        <p:nvSpPr>
          <p:cNvPr id="29" name="Shape 26"/>
          <p:cNvSpPr/>
          <p:nvPr/>
        </p:nvSpPr>
        <p:spPr>
          <a:xfrm>
            <a:off x="14630400" y="9509760"/>
            <a:ext cx="13167360" cy="2560320"/>
          </a:xfrm>
          <a:prstGeom prst="roundRect">
            <a:avLst>
              <a:gd name="adj" fmla="val 5357"/>
            </a:avLst>
          </a:prstGeom>
          <a:solidFill>
            <a:srgbClr val="0D1B2A"/>
          </a:solidFill>
          <a:ln/>
        </p:spPr>
      </p:sp>
      <p:sp>
        <p:nvSpPr>
          <p:cNvPr id="30" name="Text 27"/>
          <p:cNvSpPr/>
          <p:nvPr/>
        </p:nvSpPr>
        <p:spPr>
          <a:xfrm>
            <a:off x="14630400" y="9784080"/>
            <a:ext cx="4389120" cy="1097280"/>
          </a:xfrm>
          <a:prstGeom prst="rect">
            <a:avLst/>
          </a:prstGeom>
          <a:noFill/>
          <a:ln/>
        </p:spPr>
        <p:txBody>
          <a:bodyPr wrap="square" lIns="0" tIns="0" rIns="0" bIns="0" rtlCol="0" anchor="ctr"/>
          <a:lstStyle/>
          <a:p>
            <a:pPr algn="ctr" indent="0" marL="0">
              <a:buNone/>
            </a:pPr>
            <a:r>
              <a:rPr lang="en-US" sz="3800" b="1" dirty="0">
                <a:solidFill>
                  <a:srgbClr val="1B9AAA"/>
                </a:solidFill>
                <a:latin typeface="Trebuchet MS" pitchFamily="34" charset="0"/>
                <a:ea typeface="Trebuchet MS" pitchFamily="34" charset="-122"/>
                <a:cs typeface="Trebuchet MS" pitchFamily="34" charset="-120"/>
              </a:rPr>
              <a:t>0.867</a:t>
            </a:r>
            <a:endParaRPr lang="en-US" sz="3800" dirty="0"/>
          </a:p>
        </p:txBody>
      </p:sp>
      <p:sp>
        <p:nvSpPr>
          <p:cNvPr id="31" name="Text 28"/>
          <p:cNvSpPr/>
          <p:nvPr/>
        </p:nvSpPr>
        <p:spPr>
          <a:xfrm>
            <a:off x="14630400" y="10789920"/>
            <a:ext cx="438912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AUC-ROC</a:t>
            </a:r>
            <a:endParaRPr lang="en-US" sz="2000" dirty="0"/>
          </a:p>
        </p:txBody>
      </p:sp>
      <p:sp>
        <p:nvSpPr>
          <p:cNvPr id="32" name="Text 29"/>
          <p:cNvSpPr/>
          <p:nvPr/>
        </p:nvSpPr>
        <p:spPr>
          <a:xfrm>
            <a:off x="14630400" y="11247120"/>
            <a:ext cx="4389120" cy="457200"/>
          </a:xfrm>
          <a:prstGeom prst="rect">
            <a:avLst/>
          </a:prstGeom>
          <a:noFill/>
          <a:ln/>
        </p:spPr>
        <p:txBody>
          <a:bodyPr wrap="square" lIns="0" tIns="0" rIns="0" bIns="0" rtlCol="0" anchor="ctr"/>
          <a:lstStyle/>
          <a:p>
            <a:pPr algn="ctr" indent="0" marL="0">
              <a:buNone/>
            </a:pPr>
            <a:r>
              <a:rPr lang="en-US" sz="1600" dirty="0">
                <a:solidFill>
                  <a:srgbClr val="A0B4C8"/>
                </a:solidFill>
                <a:latin typeface="Calibri" pitchFamily="34" charset="0"/>
                <a:ea typeface="Calibri" pitchFamily="34" charset="-122"/>
                <a:cs typeface="Calibri" pitchFamily="34" charset="-120"/>
              </a:rPr>
              <a:t>Discrimination</a:t>
            </a:r>
            <a:endParaRPr lang="en-US" sz="1600" dirty="0"/>
          </a:p>
        </p:txBody>
      </p:sp>
      <p:sp>
        <p:nvSpPr>
          <p:cNvPr id="33" name="Text 30"/>
          <p:cNvSpPr/>
          <p:nvPr/>
        </p:nvSpPr>
        <p:spPr>
          <a:xfrm>
            <a:off x="19019520" y="9784080"/>
            <a:ext cx="4389120" cy="1097280"/>
          </a:xfrm>
          <a:prstGeom prst="rect">
            <a:avLst/>
          </a:prstGeom>
          <a:noFill/>
          <a:ln/>
        </p:spPr>
        <p:txBody>
          <a:bodyPr wrap="square" lIns="0" tIns="0" rIns="0" bIns="0" rtlCol="0" anchor="ctr"/>
          <a:lstStyle/>
          <a:p>
            <a:pPr algn="ctr" indent="0" marL="0">
              <a:buNone/>
            </a:pPr>
            <a:r>
              <a:rPr lang="en-US" sz="3800" b="1" dirty="0">
                <a:solidFill>
                  <a:srgbClr val="1B9AAA"/>
                </a:solidFill>
                <a:latin typeface="Trebuchet MS" pitchFamily="34" charset="0"/>
                <a:ea typeface="Trebuchet MS" pitchFamily="34" charset="-122"/>
                <a:cs typeface="Trebuchet MS" pitchFamily="34" charset="-120"/>
              </a:rPr>
              <a:t>75.6%</a:t>
            </a:r>
            <a:endParaRPr lang="en-US" sz="3800" dirty="0"/>
          </a:p>
        </p:txBody>
      </p:sp>
      <p:sp>
        <p:nvSpPr>
          <p:cNvPr id="34" name="Text 31"/>
          <p:cNvSpPr/>
          <p:nvPr/>
        </p:nvSpPr>
        <p:spPr>
          <a:xfrm>
            <a:off x="19019520" y="10789920"/>
            <a:ext cx="438912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Fake Recall</a:t>
            </a:r>
            <a:endParaRPr lang="en-US" sz="2000" dirty="0"/>
          </a:p>
        </p:txBody>
      </p:sp>
      <p:sp>
        <p:nvSpPr>
          <p:cNvPr id="35" name="Text 32"/>
          <p:cNvSpPr/>
          <p:nvPr/>
        </p:nvSpPr>
        <p:spPr>
          <a:xfrm>
            <a:off x="19019520" y="11247120"/>
            <a:ext cx="4389120" cy="457200"/>
          </a:xfrm>
          <a:prstGeom prst="rect">
            <a:avLst/>
          </a:prstGeom>
          <a:noFill/>
          <a:ln/>
        </p:spPr>
        <p:txBody>
          <a:bodyPr wrap="square" lIns="0" tIns="0" rIns="0" bIns="0" rtlCol="0" anchor="ctr"/>
          <a:lstStyle/>
          <a:p>
            <a:pPr algn="ctr" indent="0" marL="0">
              <a:buNone/>
            </a:pPr>
            <a:r>
              <a:rPr lang="en-US" sz="1600" dirty="0">
                <a:solidFill>
                  <a:srgbClr val="A0B4C8"/>
                </a:solidFill>
                <a:latin typeface="Calibri" pitchFamily="34" charset="0"/>
                <a:ea typeface="Calibri" pitchFamily="34" charset="-122"/>
                <a:cs typeface="Calibri" pitchFamily="34" charset="-120"/>
              </a:rPr>
              <a:t>Detection Rate</a:t>
            </a:r>
            <a:endParaRPr lang="en-US" sz="1600" dirty="0"/>
          </a:p>
        </p:txBody>
      </p:sp>
      <p:sp>
        <p:nvSpPr>
          <p:cNvPr id="36" name="Text 33"/>
          <p:cNvSpPr/>
          <p:nvPr/>
        </p:nvSpPr>
        <p:spPr>
          <a:xfrm>
            <a:off x="23408640" y="9784080"/>
            <a:ext cx="4389120" cy="1097280"/>
          </a:xfrm>
          <a:prstGeom prst="rect">
            <a:avLst/>
          </a:prstGeom>
          <a:noFill/>
          <a:ln/>
        </p:spPr>
        <p:txBody>
          <a:bodyPr wrap="square" lIns="0" tIns="0" rIns="0" bIns="0" rtlCol="0" anchor="ctr"/>
          <a:lstStyle/>
          <a:p>
            <a:pPr algn="ctr" indent="0" marL="0">
              <a:buNone/>
            </a:pPr>
            <a:r>
              <a:rPr lang="en-US" sz="3800" b="1" dirty="0">
                <a:solidFill>
                  <a:srgbClr val="1B9AAA"/>
                </a:solidFill>
                <a:latin typeface="Trebuchet MS" pitchFamily="34" charset="0"/>
                <a:ea typeface="Trebuchet MS" pitchFamily="34" charset="-122"/>
                <a:cs typeface="Trebuchet MS" pitchFamily="34" charset="-120"/>
              </a:rPr>
              <a:t>0.869±0.005</a:t>
            </a:r>
            <a:endParaRPr lang="en-US" sz="3800" dirty="0"/>
          </a:p>
        </p:txBody>
      </p:sp>
      <p:sp>
        <p:nvSpPr>
          <p:cNvPr id="37" name="Text 34"/>
          <p:cNvSpPr/>
          <p:nvPr/>
        </p:nvSpPr>
        <p:spPr>
          <a:xfrm>
            <a:off x="23408640" y="10789920"/>
            <a:ext cx="438912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5-Fold CV AUC</a:t>
            </a:r>
            <a:endParaRPr lang="en-US" sz="2000" dirty="0"/>
          </a:p>
        </p:txBody>
      </p:sp>
      <p:sp>
        <p:nvSpPr>
          <p:cNvPr id="38" name="Text 35"/>
          <p:cNvSpPr/>
          <p:nvPr/>
        </p:nvSpPr>
        <p:spPr>
          <a:xfrm>
            <a:off x="23408640" y="11247120"/>
            <a:ext cx="4389120" cy="457200"/>
          </a:xfrm>
          <a:prstGeom prst="rect">
            <a:avLst/>
          </a:prstGeom>
          <a:noFill/>
          <a:ln/>
        </p:spPr>
        <p:txBody>
          <a:bodyPr wrap="square" lIns="0" tIns="0" rIns="0" bIns="0" rtlCol="0" anchor="ctr"/>
          <a:lstStyle/>
          <a:p>
            <a:pPr algn="ctr" indent="0" marL="0">
              <a:buNone/>
            </a:pPr>
            <a:r>
              <a:rPr lang="en-US" sz="1600" dirty="0">
                <a:solidFill>
                  <a:srgbClr val="A0B4C8"/>
                </a:solidFill>
                <a:latin typeface="Calibri" pitchFamily="34" charset="0"/>
                <a:ea typeface="Calibri" pitchFamily="34" charset="-122"/>
                <a:cs typeface="Calibri" pitchFamily="34" charset="-120"/>
              </a:rPr>
              <a:t>Robustness</a:t>
            </a:r>
            <a:endParaRPr lang="en-US" sz="1600" dirty="0"/>
          </a:p>
        </p:txBody>
      </p:sp>
      <p:sp>
        <p:nvSpPr>
          <p:cNvPr id="39" name="Shape 36"/>
          <p:cNvSpPr/>
          <p:nvPr/>
        </p:nvSpPr>
        <p:spPr>
          <a:xfrm>
            <a:off x="14630400" y="12435840"/>
            <a:ext cx="13167360" cy="73152"/>
          </a:xfrm>
          <a:prstGeom prst="rect">
            <a:avLst/>
          </a:prstGeom>
          <a:solidFill>
            <a:srgbClr val="1B9AAA"/>
          </a:solidFill>
          <a:ln/>
        </p:spPr>
      </p:sp>
      <p:sp>
        <p:nvSpPr>
          <p:cNvPr id="40" name="Text 37"/>
          <p:cNvSpPr/>
          <p:nvPr/>
        </p:nvSpPr>
        <p:spPr>
          <a:xfrm>
            <a:off x="14630400" y="12573000"/>
            <a:ext cx="13167360" cy="685800"/>
          </a:xfrm>
          <a:prstGeom prst="rect">
            <a:avLst/>
          </a:prstGeom>
          <a:noFill/>
          <a:ln/>
        </p:spPr>
        <p:txBody>
          <a:bodyPr wrap="square" lIns="0" tIns="0" rIns="0" bIns="0" rtlCol="0" anchor="ctr"/>
          <a:lstStyle/>
          <a:p>
            <a:pPr indent="0" marL="0">
              <a:buNone/>
            </a:pPr>
            <a:r>
              <a:rPr lang="en-US" sz="2800" b="1" dirty="0">
                <a:solidFill>
                  <a:srgbClr val="0D1B2A"/>
                </a:solidFill>
                <a:latin typeface="Trebuchet MS" pitchFamily="34" charset="0"/>
                <a:ea typeface="Trebuchet MS" pitchFamily="34" charset="-122"/>
                <a:cs typeface="Trebuchet MS" pitchFamily="34" charset="-120"/>
              </a:rPr>
              <a:t>Analysis</a:t>
            </a:r>
            <a:endParaRPr lang="en-US" sz="2800" dirty="0"/>
          </a:p>
        </p:txBody>
      </p:sp>
      <p:sp>
        <p:nvSpPr>
          <p:cNvPr id="41" name="Text 38"/>
          <p:cNvSpPr/>
          <p:nvPr/>
        </p:nvSpPr>
        <p:spPr>
          <a:xfrm>
            <a:off x="14630400" y="13350240"/>
            <a:ext cx="13167360" cy="5943600"/>
          </a:xfrm>
          <a:prstGeom prst="rect">
            <a:avLst/>
          </a:prstGeom>
          <a:noFill/>
          <a:ln/>
        </p:spPr>
        <p:txBody>
          <a:bodyPr wrap="square" lIns="0" tIns="0" rIns="0" bIns="0" rtlCol="0" anchor="t"/>
          <a:lstStyle/>
          <a:p>
            <a:pPr algn="l" indent="0" marL="0">
              <a:lnSpc>
                <a:spcPts val="2700"/>
              </a:lnSpc>
              <a:buNone/>
            </a:pPr>
            <a:r>
              <a:rPr lang="en-US" sz="1800" dirty="0">
                <a:solidFill>
                  <a:srgbClr val="1A1A2E"/>
                </a:solidFill>
                <a:latin typeface="Calibri" pitchFamily="34" charset="0"/>
                <a:ea typeface="Calibri" pitchFamily="34" charset="-122"/>
                <a:cs typeface="Calibri" pitchFamily="34" charset="-120"/>
              </a:rPr>
              <a:t>•  ReviewGuard achieves the highest fake-class recall (75.6%) among all models, critical for practical deployment where missing fake reviews is costly</a:t>
            </a:r>
            <a:endParaRPr lang="en-US" sz="1800" dirty="0"/>
          </a:p>
          <a:p>
            <a:pPr algn="l" indent="0" marL="0">
              <a:lnSpc>
                <a:spcPts val="2700"/>
              </a:lnSpc>
              <a:buNone/>
            </a:pPr>
            <a:endParaRPr lang="en-US" sz="1800" dirty="0"/>
          </a:p>
          <a:p>
            <a:pPr algn="l" indent="0" marL="0">
              <a:lnSpc>
                <a:spcPts val="2700"/>
              </a:lnSpc>
              <a:buNone/>
            </a:pPr>
            <a:r>
              <a:rPr lang="en-US" sz="1800" dirty="0">
                <a:solidFill>
                  <a:srgbClr val="1A1A2E"/>
                </a:solidFill>
                <a:latin typeface="Calibri" pitchFamily="34" charset="0"/>
                <a:ea typeface="Calibri" pitchFamily="34" charset="-122"/>
                <a:cs typeface="Calibri" pitchFamily="34" charset="-120"/>
              </a:rPr>
              <a:t>•  Random Forest achieves highest AUC (0.926) but severely underfits the minority class (34.3% fake recall), making it impractical for fraud detection</a:t>
            </a:r>
            <a:endParaRPr lang="en-US" sz="1800" dirty="0"/>
          </a:p>
          <a:p>
            <a:pPr algn="l" indent="0" marL="0">
              <a:lnSpc>
                <a:spcPts val="2700"/>
              </a:lnSpc>
              <a:buNone/>
            </a:pPr>
            <a:endParaRPr lang="en-US" sz="1800" dirty="0"/>
          </a:p>
          <a:p>
            <a:pPr algn="l" indent="0" marL="0">
              <a:lnSpc>
                <a:spcPts val="2700"/>
              </a:lnSpc>
              <a:buNone/>
            </a:pPr>
            <a:r>
              <a:rPr lang="en-US" sz="1800" dirty="0">
                <a:solidFill>
                  <a:srgbClr val="1A1A2E"/>
                </a:solidFill>
                <a:latin typeface="Calibri" pitchFamily="34" charset="0"/>
                <a:ea typeface="Calibri" pitchFamily="34" charset="-122"/>
                <a:cs typeface="Calibri" pitchFamily="34" charset="-120"/>
              </a:rPr>
              <a:t>•  Behavioral features (rating deviation, review frequency, burstiness) are the strongest individual predictors per SHAP analysis</a:t>
            </a:r>
            <a:endParaRPr lang="en-US" sz="1800" dirty="0"/>
          </a:p>
          <a:p>
            <a:pPr algn="l" indent="0" marL="0">
              <a:lnSpc>
                <a:spcPts val="2700"/>
              </a:lnSpc>
              <a:buNone/>
            </a:pPr>
            <a:endParaRPr lang="en-US" sz="1800" dirty="0"/>
          </a:p>
          <a:p>
            <a:pPr algn="l" indent="0" marL="0">
              <a:lnSpc>
                <a:spcPts val="2700"/>
              </a:lnSpc>
              <a:buNone/>
            </a:pPr>
            <a:r>
              <a:rPr lang="en-US" sz="1800" dirty="0">
                <a:solidFill>
                  <a:srgbClr val="1A1A2E"/>
                </a:solidFill>
                <a:latin typeface="Calibri" pitchFamily="34" charset="0"/>
                <a:ea typeface="Calibri" pitchFamily="34" charset="-122"/>
                <a:cs typeface="Calibri" pitchFamily="34" charset="-120"/>
              </a:rPr>
              <a:t>•  Fusion consistently outperforms single-branch models: +6.4% AUC over behavior-only, +9.0% over text-only, validating the multi-modal approach</a:t>
            </a:r>
            <a:endParaRPr lang="en-US" sz="1800" dirty="0"/>
          </a:p>
          <a:p>
            <a:pPr algn="l" indent="0" marL="0">
              <a:lnSpc>
                <a:spcPts val="2700"/>
              </a:lnSpc>
              <a:buNone/>
            </a:pPr>
            <a:endParaRPr lang="en-US" sz="1800" dirty="0"/>
          </a:p>
          <a:p>
            <a:pPr algn="l" indent="0" marL="0">
              <a:lnSpc>
                <a:spcPts val="2700"/>
              </a:lnSpc>
              <a:buNone/>
            </a:pPr>
            <a:r>
              <a:rPr lang="en-US" sz="1800" dirty="0">
                <a:solidFill>
                  <a:srgbClr val="1A1A2E"/>
                </a:solidFill>
                <a:latin typeface="Calibri" pitchFamily="34" charset="0"/>
                <a:ea typeface="Calibri" pitchFamily="34" charset="-122"/>
                <a:cs typeface="Calibri" pitchFamily="34" charset="-120"/>
              </a:rPr>
              <a:t>•  5-fold cross-validation confirms stability: ReviewGuard AUC = 0.869 ± 0.005</a:t>
            </a:r>
            <a:endParaRPr lang="en-US" sz="1800" dirty="0"/>
          </a:p>
        </p:txBody>
      </p:sp>
      <p:sp>
        <p:nvSpPr>
          <p:cNvPr id="42" name="Shape 39"/>
          <p:cNvSpPr/>
          <p:nvPr/>
        </p:nvSpPr>
        <p:spPr>
          <a:xfrm>
            <a:off x="14630400" y="19751040"/>
            <a:ext cx="13167360" cy="73152"/>
          </a:xfrm>
          <a:prstGeom prst="rect">
            <a:avLst/>
          </a:prstGeom>
          <a:solidFill>
            <a:srgbClr val="1B9AAA"/>
          </a:solidFill>
          <a:ln/>
        </p:spPr>
      </p:sp>
      <p:sp>
        <p:nvSpPr>
          <p:cNvPr id="43" name="Text 40"/>
          <p:cNvSpPr/>
          <p:nvPr/>
        </p:nvSpPr>
        <p:spPr>
          <a:xfrm>
            <a:off x="14630400" y="19888200"/>
            <a:ext cx="13167360" cy="685800"/>
          </a:xfrm>
          <a:prstGeom prst="rect">
            <a:avLst/>
          </a:prstGeom>
          <a:noFill/>
          <a:ln/>
        </p:spPr>
        <p:txBody>
          <a:bodyPr wrap="square" lIns="0" tIns="0" rIns="0" bIns="0" rtlCol="0" anchor="ctr"/>
          <a:lstStyle/>
          <a:p>
            <a:pPr indent="0" marL="0">
              <a:buNone/>
            </a:pPr>
            <a:r>
              <a:rPr lang="en-US" sz="2800" b="1" dirty="0">
                <a:solidFill>
                  <a:srgbClr val="0D1B2A"/>
                </a:solidFill>
                <a:latin typeface="Trebuchet MS" pitchFamily="34" charset="0"/>
                <a:ea typeface="Trebuchet MS" pitchFamily="34" charset="-122"/>
                <a:cs typeface="Trebuchet MS" pitchFamily="34" charset="-120"/>
              </a:rPr>
              <a:t>Cross-Validation Results</a:t>
            </a:r>
            <a:endParaRPr lang="en-US" sz="2800" dirty="0"/>
          </a:p>
        </p:txBody>
      </p:sp>
      <p:graphicFrame>
        <p:nvGraphicFramePr>
          <p:cNvPr id="3" name="Table 1"/>
          <p:cNvGraphicFramePr>
            <a:graphicFrameLocks noGrp="1"/>
          </p:cNvGraphicFramePr>
          <p:nvPr>
            <p:extLst>
              <p:ext uri="{D42A27DB-BD31-4B8C-83A1-F6EECF244321}">
                <p14:modId xmlns:p14="http://schemas.microsoft.com/office/powerpoint/2010/main" val="1579011935"/>
              </p:ext>
            </p:extLst>
          </p:nvPr>
        </p:nvGraphicFramePr>
        <p:xfrm>
          <a:off x="14630400" y="20665440"/>
          <a:ext cx="13167360" cy="914400"/>
        </p:xfrm>
        <a:graphic>
          <a:graphicData uri="http://schemas.openxmlformats.org/drawingml/2006/table">
            <a:tbl>
              <a:tblPr/>
              <a:tblGrid>
                <a:gridCol w="5486400"/>
                <a:gridCol w="3840480"/>
                <a:gridCol w="3840480"/>
              </a:tblGrid>
              <a:tr h="457200">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Model</a:t>
                      </a:r>
                      <a:endParaRPr lang="en-US" sz="1500" dirty="0">
                        <a:latin typeface="Calibri" charset="0"/>
                        <a:ea typeface="Calibri" charset="0"/>
                        <a:cs typeface="Calibri" charset="0"/>
                      </a:endParaRPr>
                    </a:p>
                  </a:txBody>
                  <a:tcPr marL="91440" marR="91440" marT="45720" marB="4572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0D1B2A"/>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Mean AUC</a:t>
                      </a:r>
                      <a:endParaRPr lang="en-US" sz="1500" dirty="0">
                        <a:latin typeface="Calibri" charset="0"/>
                        <a:ea typeface="Calibri" charset="0"/>
                        <a:cs typeface="Calibri" charset="0"/>
                      </a:endParaRPr>
                    </a:p>
                  </a:txBody>
                  <a:tcPr marL="91440" marR="91440" marT="45720" marB="4572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0D1B2A"/>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Std Dev</a:t>
                      </a:r>
                      <a:endParaRPr lang="en-US" sz="1500" dirty="0">
                        <a:latin typeface="Calibri" charset="0"/>
                        <a:ea typeface="Calibri" charset="0"/>
                        <a:cs typeface="Calibri" charset="0"/>
                      </a:endParaRPr>
                    </a:p>
                  </a:txBody>
                  <a:tcPr marL="91440" marR="91440" marT="45720" marB="4572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0D1B2A"/>
                    </a:solidFill>
                  </a:tcPr>
                </a:tc>
              </a:tr>
              <a:tr h="411480">
                <a:tc>
                  <a:txBody>
                    <a:bodyPr/>
                    <a:lstStyle/>
                    <a:p>
                      <a:pPr algn="l" indent="0" marL="0">
                        <a:buNone/>
                      </a:pPr>
                      <a:r>
                        <a:rPr lang="en-US" sz="1500" dirty="0">
                          <a:solidFill>
                            <a:srgbClr val="000000"/>
                          </a:solidFill>
                          <a:latin typeface="Calibri" pitchFamily="34" charset="0"/>
                          <a:ea typeface="Calibri" pitchFamily="34" charset="-122"/>
                          <a:cs typeface="Calibri" pitchFamily="34" charset="-120"/>
                        </a:rPr>
                        <a:t>Logistic Regression</a:t>
                      </a:r>
                      <a:endParaRPr lang="en-US" sz="1500" dirty="0">
                        <a:latin typeface="Calibri" charset="0"/>
                        <a:ea typeface="Calibri" charset="0"/>
                        <a:cs typeface="Calibri" charset="0"/>
                      </a:endParaRPr>
                    </a:p>
                  </a:txBody>
                  <a:tcPr marL="91440" marR="91440" marT="45720" marB="4572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tc>
                  <a:txBody>
                    <a:bodyPr/>
                    <a:lstStyle/>
                    <a:p>
                      <a:pPr algn="ctr" indent="0" marL="0">
                        <a:buNone/>
                      </a:pPr>
                      <a:r>
                        <a:rPr lang="en-US" sz="1500" dirty="0">
                          <a:solidFill>
                            <a:srgbClr val="000000"/>
                          </a:solidFill>
                          <a:latin typeface="Calibri" pitchFamily="34" charset="0"/>
                          <a:ea typeface="Calibri" pitchFamily="34" charset="-122"/>
                          <a:cs typeface="Calibri" pitchFamily="34" charset="-120"/>
                        </a:rPr>
                        <a:t>0.774</a:t>
                      </a:r>
                      <a:endParaRPr lang="en-US" sz="1500" dirty="0">
                        <a:latin typeface="Calibri" charset="0"/>
                        <a:ea typeface="Calibri" charset="0"/>
                        <a:cs typeface="Calibri" charset="0"/>
                      </a:endParaRPr>
                    </a:p>
                  </a:txBody>
                  <a:tcPr marL="91440" marR="91440" marT="45720" marB="4572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tc>
                  <a:txBody>
                    <a:bodyPr/>
                    <a:lstStyle/>
                    <a:p>
                      <a:pPr algn="ctr" indent="0" marL="0">
                        <a:buNone/>
                      </a:pPr>
                      <a:r>
                        <a:rPr lang="en-US" sz="1500" dirty="0">
                          <a:solidFill>
                            <a:srgbClr val="000000"/>
                          </a:solidFill>
                          <a:latin typeface="Calibri" pitchFamily="34" charset="0"/>
                          <a:ea typeface="Calibri" pitchFamily="34" charset="-122"/>
                          <a:cs typeface="Calibri" pitchFamily="34" charset="-120"/>
                        </a:rPr>
                        <a:t>±0.008</a:t>
                      </a:r>
                      <a:endParaRPr lang="en-US" sz="1500" dirty="0">
                        <a:latin typeface="Calibri" charset="0"/>
                        <a:ea typeface="Calibri" charset="0"/>
                        <a:cs typeface="Calibri" charset="0"/>
                      </a:endParaRPr>
                    </a:p>
                  </a:txBody>
                  <a:tcPr marL="91440" marR="91440" marT="45720" marB="4572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tr>
              <a:tr h="411480">
                <a:tc>
                  <a:txBody>
                    <a:bodyPr/>
                    <a:lstStyle/>
                    <a:p>
                      <a:pPr algn="l" indent="0" marL="0">
                        <a:buNone/>
                      </a:pPr>
                      <a:r>
                        <a:rPr lang="en-US" sz="1500" dirty="0">
                          <a:solidFill>
                            <a:srgbClr val="000000"/>
                          </a:solidFill>
                          <a:latin typeface="Calibri" pitchFamily="34" charset="0"/>
                          <a:ea typeface="Calibri" pitchFamily="34" charset="-122"/>
                          <a:cs typeface="Calibri" pitchFamily="34" charset="-120"/>
                        </a:rPr>
                        <a:t>Random Forest</a:t>
                      </a:r>
                      <a:endParaRPr lang="en-US" sz="1500" dirty="0">
                        <a:latin typeface="Calibri" charset="0"/>
                        <a:ea typeface="Calibri" charset="0"/>
                        <a:cs typeface="Calibri" charset="0"/>
                      </a:endParaRPr>
                    </a:p>
                  </a:txBody>
                  <a:tcPr marL="91440" marR="91440" marT="45720" marB="4572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AFC"/>
                    </a:solidFill>
                  </a:tcPr>
                </a:tc>
                <a:tc>
                  <a:txBody>
                    <a:bodyPr/>
                    <a:lstStyle/>
                    <a:p>
                      <a:pPr algn="ctr" indent="0" marL="0">
                        <a:buNone/>
                      </a:pPr>
                      <a:r>
                        <a:rPr lang="en-US" sz="1500" dirty="0">
                          <a:solidFill>
                            <a:srgbClr val="000000"/>
                          </a:solidFill>
                          <a:latin typeface="Calibri" pitchFamily="34" charset="0"/>
                          <a:ea typeface="Calibri" pitchFamily="34" charset="-122"/>
                          <a:cs typeface="Calibri" pitchFamily="34" charset="-120"/>
                        </a:rPr>
                        <a:t>0.931</a:t>
                      </a:r>
                      <a:endParaRPr lang="en-US" sz="1500" dirty="0">
                        <a:latin typeface="Calibri" charset="0"/>
                        <a:ea typeface="Calibri" charset="0"/>
                        <a:cs typeface="Calibri" charset="0"/>
                      </a:endParaRPr>
                    </a:p>
                  </a:txBody>
                  <a:tcPr marL="91440" marR="91440" marT="45720" marB="4572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AFC"/>
                    </a:solidFill>
                  </a:tcPr>
                </a:tc>
                <a:tc>
                  <a:txBody>
                    <a:bodyPr/>
                    <a:lstStyle/>
                    <a:p>
                      <a:pPr algn="ctr" indent="0" marL="0">
                        <a:buNone/>
                      </a:pPr>
                      <a:r>
                        <a:rPr lang="en-US" sz="1500" dirty="0">
                          <a:solidFill>
                            <a:srgbClr val="000000"/>
                          </a:solidFill>
                          <a:latin typeface="Calibri" pitchFamily="34" charset="0"/>
                          <a:ea typeface="Calibri" pitchFamily="34" charset="-122"/>
                          <a:cs typeface="Calibri" pitchFamily="34" charset="-120"/>
                        </a:rPr>
                        <a:t>±0.003</a:t>
                      </a:r>
                      <a:endParaRPr lang="en-US" sz="1500" dirty="0">
                        <a:latin typeface="Calibri" charset="0"/>
                        <a:ea typeface="Calibri" charset="0"/>
                        <a:cs typeface="Calibri" charset="0"/>
                      </a:endParaRPr>
                    </a:p>
                  </a:txBody>
                  <a:tcPr marL="91440" marR="91440" marT="45720" marB="4572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AFC"/>
                    </a:solidFill>
                  </a:tcPr>
                </a:tc>
              </a:tr>
              <a:tr h="457200">
                <a:tc>
                  <a:txBody>
                    <a:bodyPr/>
                    <a:lstStyle/>
                    <a:p>
                      <a:pPr algn="l" indent="0" marL="0">
                        <a:buNone/>
                      </a:pPr>
                      <a:r>
                        <a:rPr lang="en-US" sz="1500" b="1" dirty="0">
                          <a:solidFill>
                            <a:srgbClr val="0D6E6E"/>
                          </a:solidFill>
                          <a:latin typeface="Calibri" pitchFamily="34" charset="0"/>
                          <a:ea typeface="Calibri" pitchFamily="34" charset="-122"/>
                          <a:cs typeface="Calibri" pitchFamily="34" charset="-120"/>
                        </a:rPr>
                        <a:t>ReviewGuard (Ours)</a:t>
                      </a:r>
                      <a:endParaRPr lang="en-US" sz="1500" dirty="0">
                        <a:latin typeface="Calibri" charset="0"/>
                        <a:ea typeface="Calibri" charset="0"/>
                        <a:cs typeface="Calibri" charset="0"/>
                      </a:endParaRPr>
                    </a:p>
                  </a:txBody>
                  <a:tcPr marL="91440" marR="91440" marT="45720" marB="4572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6F4F1"/>
                    </a:solidFill>
                  </a:tcPr>
                </a:tc>
                <a:tc>
                  <a:txBody>
                    <a:bodyPr/>
                    <a:lstStyle/>
                    <a:p>
                      <a:pPr algn="ctr" indent="0" marL="0">
                        <a:buNone/>
                      </a:pPr>
                      <a:r>
                        <a:rPr lang="en-US" sz="1500" b="1" dirty="0">
                          <a:solidFill>
                            <a:srgbClr val="0D6E6E"/>
                          </a:solidFill>
                          <a:latin typeface="Calibri" pitchFamily="34" charset="0"/>
                          <a:ea typeface="Calibri" pitchFamily="34" charset="-122"/>
                          <a:cs typeface="Calibri" pitchFamily="34" charset="-120"/>
                        </a:rPr>
                        <a:t>0.869</a:t>
                      </a:r>
                      <a:endParaRPr lang="en-US" sz="1500" dirty="0">
                        <a:latin typeface="Calibri" charset="0"/>
                        <a:ea typeface="Calibri" charset="0"/>
                        <a:cs typeface="Calibri" charset="0"/>
                      </a:endParaRPr>
                    </a:p>
                  </a:txBody>
                  <a:tcPr marL="91440" marR="91440" marT="45720" marB="4572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6F4F1"/>
                    </a:solidFill>
                  </a:tcPr>
                </a:tc>
                <a:tc>
                  <a:txBody>
                    <a:bodyPr/>
                    <a:lstStyle/>
                    <a:p>
                      <a:pPr algn="ctr" indent="0" marL="0">
                        <a:buNone/>
                      </a:pPr>
                      <a:r>
                        <a:rPr lang="en-US" sz="1500" b="1" dirty="0">
                          <a:solidFill>
                            <a:srgbClr val="0D6E6E"/>
                          </a:solidFill>
                          <a:latin typeface="Calibri" pitchFamily="34" charset="0"/>
                          <a:ea typeface="Calibri" pitchFamily="34" charset="-122"/>
                          <a:cs typeface="Calibri" pitchFamily="34" charset="-120"/>
                        </a:rPr>
                        <a:t>±0.005</a:t>
                      </a:r>
                      <a:endParaRPr lang="en-US" sz="1500" dirty="0">
                        <a:latin typeface="Calibri" charset="0"/>
                        <a:ea typeface="Calibri" charset="0"/>
                        <a:cs typeface="Calibri" charset="0"/>
                      </a:endParaRPr>
                    </a:p>
                  </a:txBody>
                  <a:tcPr marL="91440" marR="91440" marT="45720" marB="4572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6F4F1"/>
                    </a:solidFill>
                  </a:tcPr>
                </a:tc>
              </a:tr>
            </a:tbl>
          </a:graphicData>
        </a:graphic>
      </p:graphicFrame>
      <p:sp>
        <p:nvSpPr>
          <p:cNvPr id="45" name="Shape 41"/>
          <p:cNvSpPr/>
          <p:nvPr/>
        </p:nvSpPr>
        <p:spPr>
          <a:xfrm>
            <a:off x="14630400" y="22951440"/>
            <a:ext cx="13167360" cy="73152"/>
          </a:xfrm>
          <a:prstGeom prst="rect">
            <a:avLst/>
          </a:prstGeom>
          <a:solidFill>
            <a:srgbClr val="1B9AAA"/>
          </a:solidFill>
          <a:ln/>
        </p:spPr>
      </p:sp>
      <p:sp>
        <p:nvSpPr>
          <p:cNvPr id="46" name="Text 42"/>
          <p:cNvSpPr/>
          <p:nvPr/>
        </p:nvSpPr>
        <p:spPr>
          <a:xfrm>
            <a:off x="14630400" y="23088600"/>
            <a:ext cx="13167360" cy="685800"/>
          </a:xfrm>
          <a:prstGeom prst="rect">
            <a:avLst/>
          </a:prstGeom>
          <a:noFill/>
          <a:ln/>
        </p:spPr>
        <p:txBody>
          <a:bodyPr wrap="square" lIns="0" tIns="0" rIns="0" bIns="0" rtlCol="0" anchor="ctr"/>
          <a:lstStyle/>
          <a:p>
            <a:pPr indent="0" marL="0">
              <a:buNone/>
            </a:pPr>
            <a:r>
              <a:rPr lang="en-US" sz="2800" b="1" dirty="0">
                <a:solidFill>
                  <a:srgbClr val="0D1B2A"/>
                </a:solidFill>
                <a:latin typeface="Trebuchet MS" pitchFamily="34" charset="0"/>
                <a:ea typeface="Trebuchet MS" pitchFamily="34" charset="-122"/>
                <a:cs typeface="Trebuchet MS" pitchFamily="34" charset="-120"/>
              </a:rPr>
              <a:t>Ablation Summary</a:t>
            </a:r>
            <a:endParaRPr lang="en-US" sz="2800" dirty="0"/>
          </a:p>
        </p:txBody>
      </p:sp>
      <p:sp>
        <p:nvSpPr>
          <p:cNvPr id="47" name="Text 43"/>
          <p:cNvSpPr/>
          <p:nvPr/>
        </p:nvSpPr>
        <p:spPr>
          <a:xfrm>
            <a:off x="14630400" y="23865840"/>
            <a:ext cx="13167360" cy="4114800"/>
          </a:xfrm>
          <a:prstGeom prst="rect">
            <a:avLst/>
          </a:prstGeom>
          <a:noFill/>
          <a:ln/>
        </p:spPr>
        <p:txBody>
          <a:bodyPr wrap="square" lIns="0" tIns="0" rIns="0" bIns="0" rtlCol="0" anchor="t"/>
          <a:lstStyle/>
          <a:p>
            <a:pPr algn="l" indent="0" marL="0">
              <a:lnSpc>
                <a:spcPts val="2700"/>
              </a:lnSpc>
              <a:buNone/>
            </a:pPr>
            <a:r>
              <a:rPr lang="en-US" sz="1800" dirty="0">
                <a:solidFill>
                  <a:srgbClr val="1A1A2E"/>
                </a:solidFill>
                <a:latin typeface="Calibri" pitchFamily="34" charset="0"/>
                <a:ea typeface="Calibri" pitchFamily="34" charset="-122"/>
                <a:cs typeface="Calibri" pitchFamily="34" charset="-120"/>
              </a:rPr>
              <a:t>Component removal analysis confirms the contribution of each branch:</a:t>
            </a:r>
            <a:endParaRPr lang="en-US" sz="1800" dirty="0"/>
          </a:p>
          <a:p>
            <a:pPr algn="l" indent="0" marL="0">
              <a:lnSpc>
                <a:spcPts val="2700"/>
              </a:lnSpc>
              <a:buNone/>
            </a:pPr>
            <a:endParaRPr lang="en-US" sz="1800" dirty="0"/>
          </a:p>
          <a:p>
            <a:pPr algn="l" indent="0" marL="0">
              <a:lnSpc>
                <a:spcPts val="2700"/>
              </a:lnSpc>
              <a:buNone/>
            </a:pPr>
            <a:r>
              <a:rPr lang="en-US" sz="1800" dirty="0">
                <a:solidFill>
                  <a:srgbClr val="1A1A2E"/>
                </a:solidFill>
                <a:latin typeface="Calibri" pitchFamily="34" charset="0"/>
                <a:ea typeface="Calibri" pitchFamily="34" charset="-122"/>
                <a:cs typeface="Calibri" pitchFamily="34" charset="-120"/>
              </a:rPr>
              <a:t>•  Full Model (Fusion MLP): AUC = 0.867, Recall = 75.6%</a:t>
            </a:r>
            <a:endParaRPr lang="en-US" sz="1800" dirty="0"/>
          </a:p>
          <a:p>
            <a:pPr algn="l" indent="0" marL="0">
              <a:lnSpc>
                <a:spcPts val="2700"/>
              </a:lnSpc>
              <a:buNone/>
            </a:pPr>
            <a:r>
              <a:rPr lang="en-US" sz="1800" dirty="0">
                <a:solidFill>
                  <a:srgbClr val="1A1A2E"/>
                </a:solidFill>
                <a:latin typeface="Calibri" pitchFamily="34" charset="0"/>
                <a:ea typeface="Calibri" pitchFamily="34" charset="-122"/>
                <a:cs typeface="Calibri" pitchFamily="34" charset="-120"/>
              </a:rPr>
              <a:t>•  Behavior branch only: AUC = 0.803 (−7.4%)</a:t>
            </a:r>
            <a:endParaRPr lang="en-US" sz="1800" dirty="0"/>
          </a:p>
          <a:p>
            <a:pPr algn="l" indent="0" marL="0">
              <a:lnSpc>
                <a:spcPts val="2700"/>
              </a:lnSpc>
              <a:buNone/>
            </a:pPr>
            <a:r>
              <a:rPr lang="en-US" sz="1800" dirty="0">
                <a:solidFill>
                  <a:srgbClr val="1A1A2E"/>
                </a:solidFill>
                <a:latin typeface="Calibri" pitchFamily="34" charset="0"/>
                <a:ea typeface="Calibri" pitchFamily="34" charset="-122"/>
                <a:cs typeface="Calibri" pitchFamily="34" charset="-120"/>
              </a:rPr>
              <a:t>•  Text-like branch only: AUC = 0.777 (−10.4%)</a:t>
            </a:r>
            <a:endParaRPr lang="en-US" sz="1800" dirty="0"/>
          </a:p>
          <a:p>
            <a:pPr algn="l" indent="0" marL="0">
              <a:lnSpc>
                <a:spcPts val="2700"/>
              </a:lnSpc>
              <a:buNone/>
            </a:pPr>
            <a:endParaRPr lang="en-US" sz="1800" dirty="0"/>
          </a:p>
          <a:p>
            <a:pPr algn="l" indent="0" marL="0">
              <a:lnSpc>
                <a:spcPts val="2700"/>
              </a:lnSpc>
              <a:buNone/>
            </a:pPr>
            <a:r>
              <a:rPr lang="en-US" sz="1800" dirty="0">
                <a:solidFill>
                  <a:srgbClr val="1A1A2E"/>
                </a:solidFill>
                <a:latin typeface="Calibri" pitchFamily="34" charset="0"/>
                <a:ea typeface="Calibri" pitchFamily="34" charset="-122"/>
                <a:cs typeface="Calibri" pitchFamily="34" charset="-120"/>
              </a:rPr>
              <a:t>Both branches provide complementary information. Removing either degrades performance, with the text branch contributing more incremental gain when added to behavior features than vice versa.</a:t>
            </a:r>
            <a:endParaRPr lang="en-US" sz="1800" dirty="0"/>
          </a:p>
        </p:txBody>
      </p:sp>
      <p:sp>
        <p:nvSpPr>
          <p:cNvPr id="48" name="Shape 44"/>
          <p:cNvSpPr/>
          <p:nvPr/>
        </p:nvSpPr>
        <p:spPr>
          <a:xfrm>
            <a:off x="29077920" y="4754880"/>
            <a:ext cx="14081760" cy="73152"/>
          </a:xfrm>
          <a:prstGeom prst="rect">
            <a:avLst/>
          </a:prstGeom>
          <a:solidFill>
            <a:srgbClr val="1B9AAA"/>
          </a:solidFill>
          <a:ln/>
        </p:spPr>
      </p:sp>
      <p:sp>
        <p:nvSpPr>
          <p:cNvPr id="49" name="Text 45"/>
          <p:cNvSpPr/>
          <p:nvPr/>
        </p:nvSpPr>
        <p:spPr>
          <a:xfrm>
            <a:off x="29077920" y="4892040"/>
            <a:ext cx="14081760" cy="685800"/>
          </a:xfrm>
          <a:prstGeom prst="rect">
            <a:avLst/>
          </a:prstGeom>
          <a:noFill/>
          <a:ln/>
        </p:spPr>
        <p:txBody>
          <a:bodyPr wrap="square" lIns="0" tIns="0" rIns="0" bIns="0" rtlCol="0" anchor="ctr"/>
          <a:lstStyle/>
          <a:p>
            <a:pPr indent="0" marL="0">
              <a:buNone/>
            </a:pPr>
            <a:r>
              <a:rPr lang="en-US" sz="2800" b="1" dirty="0">
                <a:solidFill>
                  <a:srgbClr val="0D1B2A"/>
                </a:solidFill>
                <a:latin typeface="Trebuchet MS" pitchFamily="34" charset="0"/>
                <a:ea typeface="Trebuchet MS" pitchFamily="34" charset="-122"/>
                <a:cs typeface="Trebuchet MS" pitchFamily="34" charset="-120"/>
              </a:rPr>
              <a:t>ROC Curves — All Models</a:t>
            </a:r>
            <a:endParaRPr lang="en-US" sz="2800" dirty="0"/>
          </a:p>
        </p:txBody>
      </p:sp>
      <p:pic>
        <p:nvPicPr>
          <p:cNvPr id="50" name="Image 0" descr="preencoded.png">    </p:cNvPr>
          <p:cNvPicPr>
            <a:picLocks noChangeAspect="1"/>
          </p:cNvPicPr>
          <p:nvPr/>
        </p:nvPicPr>
        <p:blipFill>
          <a:blip r:embed="rId1"/>
          <a:srcRect l="0" r="0" t="0" b="0"/>
          <a:stretch/>
        </p:blipFill>
        <p:spPr>
          <a:xfrm>
            <a:off x="29443680" y="5669280"/>
            <a:ext cx="12801600" cy="8229600"/>
          </a:xfrm>
          <a:prstGeom prst="rect">
            <a:avLst/>
          </a:prstGeom>
        </p:spPr>
      </p:pic>
      <p:sp>
        <p:nvSpPr>
          <p:cNvPr id="51" name="Shape 46"/>
          <p:cNvSpPr/>
          <p:nvPr/>
        </p:nvSpPr>
        <p:spPr>
          <a:xfrm>
            <a:off x="29077920" y="14173200"/>
            <a:ext cx="6766560" cy="73152"/>
          </a:xfrm>
          <a:prstGeom prst="rect">
            <a:avLst/>
          </a:prstGeom>
          <a:solidFill>
            <a:srgbClr val="1B9AAA"/>
          </a:solidFill>
          <a:ln/>
        </p:spPr>
      </p:sp>
      <p:sp>
        <p:nvSpPr>
          <p:cNvPr id="52" name="Text 47"/>
          <p:cNvSpPr/>
          <p:nvPr/>
        </p:nvSpPr>
        <p:spPr>
          <a:xfrm>
            <a:off x="29077920" y="14310360"/>
            <a:ext cx="6766560" cy="685800"/>
          </a:xfrm>
          <a:prstGeom prst="rect">
            <a:avLst/>
          </a:prstGeom>
          <a:noFill/>
          <a:ln/>
        </p:spPr>
        <p:txBody>
          <a:bodyPr wrap="square" lIns="0" tIns="0" rIns="0" bIns="0" rtlCol="0" anchor="ctr"/>
          <a:lstStyle/>
          <a:p>
            <a:pPr indent="0" marL="0">
              <a:buNone/>
            </a:pPr>
            <a:r>
              <a:rPr lang="en-US" sz="2800" b="1" dirty="0">
                <a:solidFill>
                  <a:srgbClr val="0D1B2A"/>
                </a:solidFill>
                <a:latin typeface="Trebuchet MS" pitchFamily="34" charset="0"/>
                <a:ea typeface="Trebuchet MS" pitchFamily="34" charset="-122"/>
                <a:cs typeface="Trebuchet MS" pitchFamily="34" charset="-120"/>
              </a:rPr>
              <a:t>ReviewGuard Confusion Matrix</a:t>
            </a:r>
            <a:endParaRPr lang="en-US" sz="2800" dirty="0"/>
          </a:p>
        </p:txBody>
      </p:sp>
      <p:sp>
        <p:nvSpPr>
          <p:cNvPr id="53" name="Shape 48"/>
          <p:cNvSpPr/>
          <p:nvPr/>
        </p:nvSpPr>
        <p:spPr>
          <a:xfrm>
            <a:off x="36301680" y="14173200"/>
            <a:ext cx="6400800" cy="73152"/>
          </a:xfrm>
          <a:prstGeom prst="rect">
            <a:avLst/>
          </a:prstGeom>
          <a:solidFill>
            <a:srgbClr val="1B9AAA"/>
          </a:solidFill>
          <a:ln/>
        </p:spPr>
      </p:sp>
      <p:sp>
        <p:nvSpPr>
          <p:cNvPr id="54" name="Text 49"/>
          <p:cNvSpPr/>
          <p:nvPr/>
        </p:nvSpPr>
        <p:spPr>
          <a:xfrm>
            <a:off x="36301680" y="14310360"/>
            <a:ext cx="6400800" cy="685800"/>
          </a:xfrm>
          <a:prstGeom prst="rect">
            <a:avLst/>
          </a:prstGeom>
          <a:noFill/>
          <a:ln/>
        </p:spPr>
        <p:txBody>
          <a:bodyPr wrap="square" lIns="0" tIns="0" rIns="0" bIns="0" rtlCol="0" anchor="ctr"/>
          <a:lstStyle/>
          <a:p>
            <a:pPr indent="0" marL="0">
              <a:buNone/>
            </a:pPr>
            <a:r>
              <a:rPr lang="en-US" sz="2800" b="1" dirty="0">
                <a:solidFill>
                  <a:srgbClr val="0D1B2A"/>
                </a:solidFill>
                <a:latin typeface="Trebuchet MS" pitchFamily="34" charset="0"/>
                <a:ea typeface="Trebuchet MS" pitchFamily="34" charset="-122"/>
                <a:cs typeface="Trebuchet MS" pitchFamily="34" charset="-120"/>
              </a:rPr>
              <a:t>SHAP Feature Importance</a:t>
            </a:r>
            <a:endParaRPr lang="en-US" sz="2800" dirty="0"/>
          </a:p>
        </p:txBody>
      </p:sp>
      <p:pic>
        <p:nvPicPr>
          <p:cNvPr id="55" name="Image 1" descr="preencoded.png">    </p:cNvPr>
          <p:cNvPicPr>
            <a:picLocks noChangeAspect="1"/>
          </p:cNvPicPr>
          <p:nvPr/>
        </p:nvPicPr>
        <p:blipFill>
          <a:blip r:embed="rId2"/>
          <a:srcRect l="0" r="0" t="0" b="0"/>
          <a:stretch/>
        </p:blipFill>
        <p:spPr>
          <a:xfrm>
            <a:off x="29260800" y="15087600"/>
            <a:ext cx="6217920" cy="5029200"/>
          </a:xfrm>
          <a:prstGeom prst="rect">
            <a:avLst/>
          </a:prstGeom>
        </p:spPr>
      </p:pic>
      <p:pic>
        <p:nvPicPr>
          <p:cNvPr id="56" name="Image 2" descr="preencoded.png">    </p:cNvPr>
          <p:cNvPicPr>
            <a:picLocks noChangeAspect="1"/>
          </p:cNvPicPr>
          <p:nvPr/>
        </p:nvPicPr>
        <p:blipFill>
          <a:blip r:embed="rId3"/>
          <a:srcRect l="0" r="0" t="0" b="0"/>
          <a:stretch/>
        </p:blipFill>
        <p:spPr>
          <a:xfrm>
            <a:off x="36301680" y="15087600"/>
            <a:ext cx="6217920" cy="5029200"/>
          </a:xfrm>
          <a:prstGeom prst="rect">
            <a:avLst/>
          </a:prstGeom>
        </p:spPr>
      </p:pic>
      <p:sp>
        <p:nvSpPr>
          <p:cNvPr id="57" name="Shape 50"/>
          <p:cNvSpPr/>
          <p:nvPr/>
        </p:nvSpPr>
        <p:spPr>
          <a:xfrm>
            <a:off x="29077920" y="20391120"/>
            <a:ext cx="6766560" cy="73152"/>
          </a:xfrm>
          <a:prstGeom prst="rect">
            <a:avLst/>
          </a:prstGeom>
          <a:solidFill>
            <a:srgbClr val="1B9AAA"/>
          </a:solidFill>
          <a:ln/>
        </p:spPr>
      </p:sp>
      <p:sp>
        <p:nvSpPr>
          <p:cNvPr id="58" name="Text 51"/>
          <p:cNvSpPr/>
          <p:nvPr/>
        </p:nvSpPr>
        <p:spPr>
          <a:xfrm>
            <a:off x="29077920" y="20528280"/>
            <a:ext cx="6766560" cy="685800"/>
          </a:xfrm>
          <a:prstGeom prst="rect">
            <a:avLst/>
          </a:prstGeom>
          <a:noFill/>
          <a:ln/>
        </p:spPr>
        <p:txBody>
          <a:bodyPr wrap="square" lIns="0" tIns="0" rIns="0" bIns="0" rtlCol="0" anchor="ctr"/>
          <a:lstStyle/>
          <a:p>
            <a:pPr indent="0" marL="0">
              <a:buNone/>
            </a:pPr>
            <a:r>
              <a:rPr lang="en-US" sz="2800" b="1" dirty="0">
                <a:solidFill>
                  <a:srgbClr val="0D1B2A"/>
                </a:solidFill>
                <a:latin typeface="Trebuchet MS" pitchFamily="34" charset="0"/>
                <a:ea typeface="Trebuchet MS" pitchFamily="34" charset="-122"/>
                <a:cs typeface="Trebuchet MS" pitchFamily="34" charset="-120"/>
              </a:rPr>
              <a:t>Ablation Study</a:t>
            </a:r>
            <a:endParaRPr lang="en-US" sz="2800" dirty="0"/>
          </a:p>
        </p:txBody>
      </p:sp>
      <p:sp>
        <p:nvSpPr>
          <p:cNvPr id="59" name="Shape 52"/>
          <p:cNvSpPr/>
          <p:nvPr/>
        </p:nvSpPr>
        <p:spPr>
          <a:xfrm>
            <a:off x="36301680" y="20391120"/>
            <a:ext cx="6400800" cy="73152"/>
          </a:xfrm>
          <a:prstGeom prst="rect">
            <a:avLst/>
          </a:prstGeom>
          <a:solidFill>
            <a:srgbClr val="1B9AAA"/>
          </a:solidFill>
          <a:ln/>
        </p:spPr>
      </p:sp>
      <p:sp>
        <p:nvSpPr>
          <p:cNvPr id="60" name="Text 53"/>
          <p:cNvSpPr/>
          <p:nvPr/>
        </p:nvSpPr>
        <p:spPr>
          <a:xfrm>
            <a:off x="36301680" y="20528280"/>
            <a:ext cx="6400800" cy="685800"/>
          </a:xfrm>
          <a:prstGeom prst="rect">
            <a:avLst/>
          </a:prstGeom>
          <a:noFill/>
          <a:ln/>
        </p:spPr>
        <p:txBody>
          <a:bodyPr wrap="square" lIns="0" tIns="0" rIns="0" bIns="0" rtlCol="0" anchor="ctr"/>
          <a:lstStyle/>
          <a:p>
            <a:pPr indent="0" marL="0">
              <a:buNone/>
            </a:pPr>
            <a:r>
              <a:rPr lang="en-US" sz="2800" b="1" dirty="0">
                <a:solidFill>
                  <a:srgbClr val="0D1B2A"/>
                </a:solidFill>
                <a:latin typeface="Trebuchet MS" pitchFamily="34" charset="0"/>
                <a:ea typeface="Trebuchet MS" pitchFamily="34" charset="-122"/>
                <a:cs typeface="Trebuchet MS" pitchFamily="34" charset="-120"/>
              </a:rPr>
              <a:t>Model Comparison</a:t>
            </a:r>
            <a:endParaRPr lang="en-US" sz="2800" dirty="0"/>
          </a:p>
        </p:txBody>
      </p:sp>
      <p:pic>
        <p:nvPicPr>
          <p:cNvPr id="61" name="Image 3" descr="preencoded.png">    </p:cNvPr>
          <p:cNvPicPr>
            <a:picLocks noChangeAspect="1"/>
          </p:cNvPicPr>
          <p:nvPr/>
        </p:nvPicPr>
        <p:blipFill>
          <a:blip r:embed="rId4"/>
          <a:srcRect l="0" r="0" t="0" b="0"/>
          <a:stretch/>
        </p:blipFill>
        <p:spPr>
          <a:xfrm>
            <a:off x="29260800" y="21305520"/>
            <a:ext cx="6217920" cy="5029200"/>
          </a:xfrm>
          <a:prstGeom prst="rect">
            <a:avLst/>
          </a:prstGeom>
        </p:spPr>
      </p:pic>
      <p:pic>
        <p:nvPicPr>
          <p:cNvPr id="62" name="Image 4" descr="preencoded.png">    </p:cNvPr>
          <p:cNvPicPr>
            <a:picLocks noChangeAspect="1"/>
          </p:cNvPicPr>
          <p:nvPr/>
        </p:nvPicPr>
        <p:blipFill>
          <a:blip r:embed="rId5"/>
          <a:srcRect l="0" r="0" t="0" b="0"/>
          <a:stretch/>
        </p:blipFill>
        <p:spPr>
          <a:xfrm>
            <a:off x="36301680" y="21305520"/>
            <a:ext cx="6217920" cy="5029200"/>
          </a:xfrm>
          <a:prstGeom prst="rect">
            <a:avLst/>
          </a:prstGeom>
        </p:spPr>
      </p:pic>
      <p:sp>
        <p:nvSpPr>
          <p:cNvPr id="63" name="Shape 54"/>
          <p:cNvSpPr/>
          <p:nvPr/>
        </p:nvSpPr>
        <p:spPr>
          <a:xfrm>
            <a:off x="0" y="32004000"/>
            <a:ext cx="43891200" cy="914400"/>
          </a:xfrm>
          <a:prstGeom prst="rect">
            <a:avLst/>
          </a:prstGeom>
          <a:solidFill>
            <a:srgbClr val="0D1B2A"/>
          </a:solidFill>
          <a:ln/>
        </p:spPr>
      </p:sp>
      <p:sp>
        <p:nvSpPr>
          <p:cNvPr id="64" name="Text 55"/>
          <p:cNvSpPr/>
          <p:nvPr/>
        </p:nvSpPr>
        <p:spPr>
          <a:xfrm>
            <a:off x="914400" y="32095440"/>
            <a:ext cx="42062400" cy="731520"/>
          </a:xfrm>
          <a:prstGeom prst="rect">
            <a:avLst/>
          </a:prstGeom>
          <a:noFill/>
          <a:ln/>
        </p:spPr>
        <p:txBody>
          <a:bodyPr wrap="square" lIns="0" tIns="0" rIns="0" bIns="0" rtlCol="0" anchor="ctr"/>
          <a:lstStyle/>
          <a:p>
            <a:pPr algn="ctr" indent="0" marL="0">
              <a:buNone/>
            </a:pPr>
            <a:r>
              <a:rPr lang="en-US" sz="1800" dirty="0">
                <a:solidFill>
                  <a:srgbClr val="A0B4C8"/>
                </a:solidFill>
                <a:latin typeface="Calibri" pitchFamily="34" charset="0"/>
                <a:ea typeface="Calibri" pitchFamily="34" charset="-122"/>
                <a:cs typeface="Calibri" pitchFamily="34" charset="-120"/>
              </a:rPr>
              <a:t>CS 5903 — Perspectives on Computing  |  University of Oklahoma  |  Spring 2026  |  Contact: rohan.mukka-1@ou.edu</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2026-04-09T05:29:00Z</dcterms:created>
  <dcterms:modified xsi:type="dcterms:W3CDTF">2026-04-09T05:29:00Z</dcterms:modified>
</cp:coreProperties>
</file>